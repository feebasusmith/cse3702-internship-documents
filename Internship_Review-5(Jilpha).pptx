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intgyEU+/ohiMKu1i3ouG+4sMc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55EB22-FD97-4300-8888-460C9DE45617}">
  <a:tblStyle styleId="{8A55EB22-FD97-4300-8888-460C9DE45617}"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b="off" i="off"/>
      <a:tcStyle>
        <a:tcBdr/>
      </a:tcStyle>
    </a:seCell>
    <a:swCell>
      <a:tcTxStyle b="off" i="off"/>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bc7949f234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6" name="Google Shape;86;g3bc7949f234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_azwkN5nxKBeWa-GqM3sn02x9CgDlKdxXKAd8swtOH0/edit?usp=drivesdk"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Jilpha"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bc7949f234_1_9"/>
          <p:cNvSpPr txBox="1"/>
          <p:nvPr/>
        </p:nvSpPr>
        <p:spPr>
          <a:xfrm>
            <a:off x="6525369" y="1812218"/>
            <a:ext cx="5514300" cy="20205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17365D"/>
              </a:buClr>
              <a:buSzPts val="2000"/>
              <a:buFont typeface="Arial"/>
              <a:buNone/>
            </a:pPr>
            <a:r>
              <a:rPr lang="en-US" sz="2000" b="1" i="0" u="none" strike="noStrike" cap="none" dirty="0">
                <a:solidFill>
                  <a:srgbClr val="17365D"/>
                </a:solidFill>
                <a:latin typeface="Cambria"/>
                <a:ea typeface="Cambria"/>
                <a:cs typeface="Cambria"/>
                <a:sym typeface="Cambria"/>
              </a:rPr>
              <a:t>Under the Supervision:</a:t>
            </a:r>
            <a:endParaRPr sz="2000" b="1" i="0" u="none" strike="noStrike" cap="none" dirty="0">
              <a:solidFill>
                <a:srgbClr val="17365D"/>
              </a:solidFill>
              <a:latin typeface="Cambria"/>
              <a:ea typeface="Cambria"/>
              <a:cs typeface="Cambria"/>
              <a:sym typeface="Cambria"/>
            </a:endParaRPr>
          </a:p>
          <a:p>
            <a:pPr marL="0" marR="0" lvl="0" indent="0" algn="ctr" rtl="0">
              <a:lnSpc>
                <a:spcPct val="100000"/>
              </a:lnSpc>
              <a:spcBef>
                <a:spcPts val="340"/>
              </a:spcBef>
              <a:spcAft>
                <a:spcPts val="0"/>
              </a:spcAft>
              <a:buClr>
                <a:srgbClr val="17365D"/>
              </a:buClr>
              <a:buSzPts val="1700"/>
              <a:buFont typeface="Arial"/>
              <a:buNone/>
            </a:pPr>
            <a:r>
              <a:rPr lang="en-US" sz="1700" b="1" i="0" u="none" strike="noStrike" cap="none" dirty="0">
                <a:solidFill>
                  <a:srgbClr val="17365D"/>
                </a:solidFill>
                <a:latin typeface="Cambria"/>
                <a:ea typeface="Cambria"/>
                <a:cs typeface="Cambria"/>
                <a:sym typeface="Cambria"/>
              </a:rPr>
              <a:t>Mr. </a:t>
            </a:r>
            <a:r>
              <a:rPr lang="en-US" sz="1700" b="1" i="0" u="none" strike="noStrike" cap="none" dirty="0" err="1">
                <a:solidFill>
                  <a:srgbClr val="17365D"/>
                </a:solidFill>
                <a:latin typeface="Cambria"/>
                <a:ea typeface="Cambria"/>
                <a:cs typeface="Cambria"/>
                <a:sym typeface="Cambria"/>
              </a:rPr>
              <a:t>Sahabzada</a:t>
            </a:r>
            <a:r>
              <a:rPr lang="en-US" sz="1700" b="1" i="0" u="none" strike="noStrike" cap="none" dirty="0">
                <a:solidFill>
                  <a:srgbClr val="17365D"/>
                </a:solidFill>
                <a:latin typeface="Cambria"/>
                <a:ea typeface="Cambria"/>
                <a:cs typeface="Cambria"/>
                <a:sym typeface="Cambria"/>
              </a:rPr>
              <a:t> Betab Badar</a:t>
            </a:r>
            <a:endParaRPr sz="1800" b="0" i="0" u="none" strike="noStrike" cap="none" dirty="0">
              <a:solidFill>
                <a:srgbClr val="000000"/>
              </a:solidFill>
              <a:latin typeface="Cambria"/>
              <a:ea typeface="Cambria"/>
              <a:cs typeface="Cambria"/>
              <a:sym typeface="Cambria"/>
            </a:endParaRPr>
          </a:p>
          <a:p>
            <a:pPr marL="0" marR="0" lvl="0" indent="0" algn="ctr" rtl="0">
              <a:lnSpc>
                <a:spcPct val="100000"/>
              </a:lnSpc>
              <a:spcBef>
                <a:spcPts val="340"/>
              </a:spcBef>
              <a:spcAft>
                <a:spcPts val="0"/>
              </a:spcAft>
              <a:buClr>
                <a:srgbClr val="17365D"/>
              </a:buClr>
              <a:buSzPts val="1700"/>
              <a:buFont typeface="Arial"/>
              <a:buNone/>
            </a:pPr>
            <a:r>
              <a:rPr lang="en-US" sz="1700" b="1" i="0" u="none" strike="noStrike" cap="none" dirty="0">
                <a:solidFill>
                  <a:srgbClr val="17365D"/>
                </a:solidFill>
                <a:latin typeface="Cambria"/>
                <a:ea typeface="Cambria"/>
                <a:cs typeface="Cambria"/>
                <a:sym typeface="Cambria"/>
              </a:rPr>
              <a:t>Assistant Professor</a:t>
            </a:r>
            <a:endParaRPr sz="1800" b="0" i="0" u="none" strike="noStrike" cap="none" dirty="0">
              <a:solidFill>
                <a:srgbClr val="000000"/>
              </a:solidFill>
              <a:latin typeface="Cambria"/>
              <a:ea typeface="Cambria"/>
              <a:cs typeface="Cambria"/>
              <a:sym typeface="Cambria"/>
            </a:endParaRPr>
          </a:p>
          <a:p>
            <a:pPr marL="0" marR="0" lvl="0" indent="0" algn="ctr" rtl="0">
              <a:lnSpc>
                <a:spcPct val="100000"/>
              </a:lnSpc>
              <a:spcBef>
                <a:spcPts val="340"/>
              </a:spcBef>
              <a:spcAft>
                <a:spcPts val="0"/>
              </a:spcAft>
              <a:buClr>
                <a:srgbClr val="17365D"/>
              </a:buClr>
              <a:buSzPts val="1700"/>
              <a:buFont typeface="Arial"/>
              <a:buNone/>
            </a:pPr>
            <a:r>
              <a:rPr lang="en-US" sz="1700" b="1" i="0" u="none" strike="noStrike" cap="none" dirty="0">
                <a:solidFill>
                  <a:srgbClr val="17365D"/>
                </a:solidFill>
                <a:latin typeface="Cambria"/>
                <a:ea typeface="Cambria"/>
                <a:cs typeface="Cambria"/>
                <a:sym typeface="Cambria"/>
              </a:rPr>
              <a:t>Presidency School of CSE</a:t>
            </a:r>
            <a:endParaRPr sz="1800" b="0" i="0" u="none" strike="noStrike" cap="none" dirty="0">
              <a:solidFill>
                <a:srgbClr val="000000"/>
              </a:solidFill>
              <a:latin typeface="Cambria"/>
              <a:ea typeface="Cambria"/>
              <a:cs typeface="Cambria"/>
              <a:sym typeface="Cambria"/>
            </a:endParaRPr>
          </a:p>
          <a:p>
            <a:pPr marL="0" marR="0" lvl="0" indent="0" algn="ctr" rtl="0">
              <a:lnSpc>
                <a:spcPct val="100000"/>
              </a:lnSpc>
              <a:spcBef>
                <a:spcPts val="340"/>
              </a:spcBef>
              <a:spcAft>
                <a:spcPts val="0"/>
              </a:spcAft>
              <a:buClr>
                <a:srgbClr val="17365D"/>
              </a:buClr>
              <a:buSzPts val="1700"/>
              <a:buFont typeface="Arial"/>
              <a:buNone/>
            </a:pPr>
            <a:r>
              <a:rPr lang="en-US" sz="1700" b="1" i="0" u="none" strike="noStrike" cap="none" dirty="0">
                <a:solidFill>
                  <a:srgbClr val="17365D"/>
                </a:solidFill>
                <a:latin typeface="Cambria"/>
                <a:ea typeface="Cambria"/>
                <a:cs typeface="Cambria"/>
                <a:sym typeface="Cambria"/>
              </a:rPr>
              <a:t>Presidency University, Bengaluru</a:t>
            </a:r>
            <a:endParaRPr sz="1800" b="0" i="0" u="none" strike="noStrike" cap="none" dirty="0">
              <a:solidFill>
                <a:srgbClr val="000000"/>
              </a:solidFill>
              <a:latin typeface="Cambria"/>
              <a:ea typeface="Cambria"/>
              <a:cs typeface="Cambria"/>
              <a:sym typeface="Cambria"/>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dirty="0">
              <a:solidFill>
                <a:srgbClr val="17365D"/>
              </a:solidFill>
              <a:latin typeface="Cambria"/>
              <a:ea typeface="Cambria"/>
              <a:cs typeface="Cambria"/>
              <a:sym typeface="Cambria"/>
            </a:endParaRPr>
          </a:p>
        </p:txBody>
      </p:sp>
      <p:sp>
        <p:nvSpPr>
          <p:cNvPr id="89" name="Google Shape;89;g3bc7949f234_1_9"/>
          <p:cNvSpPr txBox="1"/>
          <p:nvPr/>
        </p:nvSpPr>
        <p:spPr>
          <a:xfrm>
            <a:off x="156411" y="4130278"/>
            <a:ext cx="12249900" cy="156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4472C4"/>
                </a:solidFill>
                <a:latin typeface="Cambria"/>
                <a:ea typeface="Cambria"/>
                <a:cs typeface="Cambria"/>
                <a:sym typeface="Cambria"/>
              </a:rPr>
              <a:t>Name of the Program: </a:t>
            </a:r>
            <a:r>
              <a:rPr lang="en-US" sz="2000" b="1" i="0" u="none" strike="noStrike" cap="none" dirty="0" err="1">
                <a:solidFill>
                  <a:srgbClr val="000000"/>
                </a:solidFill>
                <a:latin typeface="Cambria"/>
                <a:ea typeface="Cambria"/>
                <a:cs typeface="Cambria"/>
                <a:sym typeface="Cambria"/>
              </a:rPr>
              <a:t>B.tech</a:t>
            </a:r>
            <a:r>
              <a:rPr lang="en-US" sz="2000" b="1" i="0" u="none" strike="noStrike" cap="none" dirty="0">
                <a:solidFill>
                  <a:srgbClr val="000000"/>
                </a:solidFill>
                <a:latin typeface="Cambria"/>
                <a:ea typeface="Cambria"/>
                <a:cs typeface="Cambria"/>
                <a:sym typeface="Cambria"/>
              </a:rPr>
              <a:t> Computer Science and Engineering (Data Science)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4472C4"/>
                </a:solidFill>
                <a:latin typeface="Cambria"/>
                <a:ea typeface="Cambria"/>
                <a:cs typeface="Cambria"/>
                <a:sym typeface="Cambria"/>
              </a:rPr>
              <a:t>Name of the </a:t>
            </a:r>
            <a:r>
              <a:rPr lang="en-US" sz="2000" b="1" i="0" u="none" strike="noStrike" cap="none" dirty="0" err="1">
                <a:solidFill>
                  <a:srgbClr val="4472C4"/>
                </a:solidFill>
                <a:latin typeface="Cambria"/>
                <a:ea typeface="Cambria"/>
                <a:cs typeface="Cambria"/>
                <a:sym typeface="Cambria"/>
              </a:rPr>
              <a:t>HoD</a:t>
            </a:r>
            <a:r>
              <a:rPr lang="en-US" sz="2000" b="1" i="0" u="none" strike="noStrike" cap="none" dirty="0">
                <a:solidFill>
                  <a:srgbClr val="4472C4"/>
                </a:solidFill>
                <a:latin typeface="Cambria"/>
                <a:ea typeface="Cambria"/>
                <a:cs typeface="Cambria"/>
                <a:sym typeface="Cambria"/>
              </a:rPr>
              <a:t>:  </a:t>
            </a:r>
            <a:r>
              <a:rPr lang="en-US" sz="2000" b="1" i="0" u="none" strike="noStrike" cap="none" dirty="0">
                <a:solidFill>
                  <a:srgbClr val="000000"/>
                </a:solidFill>
                <a:latin typeface="Cambria"/>
                <a:ea typeface="Cambria"/>
                <a:cs typeface="Cambria"/>
                <a:sym typeface="Cambria"/>
              </a:rPr>
              <a:t>Dr. S </a:t>
            </a:r>
            <a:r>
              <a:rPr lang="en-US" sz="2000" b="1" i="0" u="none" strike="noStrike" cap="none" dirty="0" err="1">
                <a:solidFill>
                  <a:srgbClr val="000000"/>
                </a:solidFill>
                <a:latin typeface="Cambria"/>
                <a:ea typeface="Cambria"/>
                <a:cs typeface="Cambria"/>
                <a:sym typeface="Cambria"/>
              </a:rPr>
              <a:t>Pravinth</a:t>
            </a:r>
            <a:r>
              <a:rPr lang="en-US" sz="2000" b="1" i="0" u="none" strike="noStrike" cap="none" dirty="0">
                <a:solidFill>
                  <a:srgbClr val="000000"/>
                </a:solidFill>
                <a:latin typeface="Cambria"/>
                <a:ea typeface="Cambria"/>
                <a:cs typeface="Cambria"/>
                <a:sym typeface="Cambria"/>
              </a:rPr>
              <a:t> Raja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4472C4"/>
                </a:solidFill>
                <a:latin typeface="Cambria"/>
                <a:ea typeface="Cambria"/>
                <a:cs typeface="Cambria"/>
                <a:sym typeface="Cambria"/>
              </a:rPr>
              <a:t>Name of the Program Internship Coordinator:</a:t>
            </a:r>
            <a:r>
              <a:rPr lang="en-US" sz="2000" b="1" i="0" u="none" strike="noStrike" cap="none" dirty="0">
                <a:solidFill>
                  <a:srgbClr val="000000"/>
                </a:solidFill>
                <a:latin typeface="Cambria"/>
                <a:ea typeface="Cambria"/>
                <a:cs typeface="Cambria"/>
                <a:sym typeface="Cambria"/>
              </a:rPr>
              <a:t> Ms. Nisha Robin Rohit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4472C4"/>
                </a:solidFill>
                <a:latin typeface="Cambria"/>
                <a:ea typeface="Cambria"/>
                <a:cs typeface="Cambria"/>
                <a:sym typeface="Cambria"/>
              </a:rPr>
              <a:t>Name of the School Internship Coordinator: </a:t>
            </a:r>
            <a:r>
              <a:rPr lang="en-US" sz="2000" b="1" i="0" u="none" strike="noStrike" cap="none" dirty="0">
                <a:solidFill>
                  <a:srgbClr val="000000"/>
                </a:solidFill>
                <a:latin typeface="Cambria"/>
                <a:ea typeface="Cambria"/>
                <a:cs typeface="Cambria"/>
                <a:sym typeface="Cambria"/>
              </a:rPr>
              <a:t>Dr. Md Ziaur Rahman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Cambria"/>
                <a:ea typeface="Cambria"/>
                <a:cs typeface="Cambria"/>
                <a:sym typeface="Cambria"/>
              </a:rPr>
              <a:t> 									</a:t>
            </a:r>
            <a:endParaRPr sz="2000" b="1" i="0" u="none" strike="noStrike" cap="none" dirty="0">
              <a:solidFill>
                <a:srgbClr val="000000"/>
              </a:solidFill>
              <a:latin typeface="Cambria"/>
              <a:ea typeface="Cambria"/>
              <a:cs typeface="Cambria"/>
              <a:sym typeface="Cambria"/>
            </a:endParaRPr>
          </a:p>
        </p:txBody>
      </p:sp>
      <p:sp>
        <p:nvSpPr>
          <p:cNvPr id="90" name="Google Shape;90;g3bc7949f234_1_9"/>
          <p:cNvSpPr txBox="1"/>
          <p:nvPr/>
        </p:nvSpPr>
        <p:spPr>
          <a:xfrm>
            <a:off x="838200" y="140056"/>
            <a:ext cx="10515600" cy="1560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7365D"/>
              </a:buClr>
              <a:buSzPts val="2800"/>
              <a:buFont typeface="Verdana"/>
              <a:buNone/>
            </a:pPr>
            <a:r>
              <a:rPr lang="en-US" sz="2800" b="1" i="0" u="none" strike="noStrike" cap="none" dirty="0">
                <a:solidFill>
                  <a:srgbClr val="2F5496"/>
                </a:solidFill>
                <a:latin typeface="Times New Roman"/>
                <a:ea typeface="Times New Roman"/>
                <a:cs typeface="Times New Roman"/>
                <a:sym typeface="Times New Roman"/>
              </a:rPr>
              <a:t>CSE 7302 - INTERNSHIP</a:t>
            </a:r>
            <a:br>
              <a:rPr lang="en-US" sz="2800" b="1" i="0" u="none" strike="noStrike" cap="none" dirty="0">
                <a:solidFill>
                  <a:srgbClr val="FF0000"/>
                </a:solidFill>
                <a:latin typeface="Times New Roman"/>
                <a:ea typeface="Times New Roman"/>
                <a:cs typeface="Times New Roman"/>
                <a:sym typeface="Times New Roman"/>
              </a:rPr>
            </a:br>
            <a:r>
              <a:rPr lang="en-US" sz="2400" b="1" i="0" u="none" strike="noStrike" cap="none" dirty="0">
                <a:solidFill>
                  <a:srgbClr val="0070C0"/>
                </a:solidFill>
                <a:latin typeface="Times New Roman"/>
                <a:ea typeface="Times New Roman"/>
                <a:cs typeface="Times New Roman"/>
                <a:sym typeface="Times New Roman"/>
              </a:rPr>
              <a:t>Review-</a:t>
            </a:r>
            <a:r>
              <a:rPr lang="en-US" sz="2400" b="1" dirty="0">
                <a:solidFill>
                  <a:srgbClr val="0070C0"/>
                </a:solidFill>
                <a:latin typeface="Times New Roman"/>
                <a:ea typeface="Times New Roman"/>
                <a:cs typeface="Times New Roman"/>
                <a:sym typeface="Times New Roman"/>
              </a:rPr>
              <a:t> 5 </a:t>
            </a:r>
            <a:r>
              <a:rPr lang="en-US" sz="2400" b="1" i="0" u="none" strike="noStrike" cap="none" dirty="0">
                <a:solidFill>
                  <a:srgbClr val="0070C0"/>
                </a:solidFill>
                <a:latin typeface="Times New Roman"/>
                <a:ea typeface="Times New Roman"/>
                <a:cs typeface="Times New Roman"/>
                <a:sym typeface="Times New Roman"/>
              </a:rPr>
              <a:t>Presentation </a:t>
            </a:r>
          </a:p>
          <a:p>
            <a:pPr marL="0" marR="0" lvl="0" indent="0" algn="ctr" rtl="0">
              <a:lnSpc>
                <a:spcPct val="100000"/>
              </a:lnSpc>
              <a:spcBef>
                <a:spcPts val="0"/>
              </a:spcBef>
              <a:spcAft>
                <a:spcPts val="0"/>
              </a:spcAft>
              <a:buClr>
                <a:srgbClr val="17365D"/>
              </a:buClr>
              <a:buSzPts val="2800"/>
              <a:buFont typeface="Verdana"/>
              <a:buNone/>
            </a:pPr>
            <a:r>
              <a:rPr lang="en-US" sz="2400" b="1" dirty="0">
                <a:solidFill>
                  <a:srgbClr val="0070C0"/>
                </a:solidFill>
                <a:latin typeface="Times New Roman"/>
                <a:ea typeface="Times New Roman"/>
                <a:cs typeface="Times New Roman"/>
                <a:sym typeface="Times New Roman"/>
              </a:rPr>
              <a:t>ETL and EDA in Python</a:t>
            </a:r>
            <a:br>
              <a:rPr lang="en-US" sz="2400" b="1" i="0" u="none" strike="noStrike" cap="none" dirty="0">
                <a:solidFill>
                  <a:srgbClr val="0070C0"/>
                </a:solidFill>
                <a:latin typeface="Times New Roman"/>
                <a:ea typeface="Times New Roman"/>
                <a:cs typeface="Times New Roman"/>
                <a:sym typeface="Times New Roman"/>
              </a:rPr>
            </a:br>
            <a:endParaRPr sz="2400" b="1" i="0" u="none" strike="noStrike" cap="none" dirty="0">
              <a:solidFill>
                <a:srgbClr val="17365D"/>
              </a:solidFill>
              <a:latin typeface="Times New Roman"/>
              <a:ea typeface="Times New Roman"/>
              <a:cs typeface="Times New Roman"/>
              <a:sym typeface="Times New Roman"/>
            </a:endParaRPr>
          </a:p>
        </p:txBody>
      </p:sp>
      <p:graphicFrame>
        <p:nvGraphicFramePr>
          <p:cNvPr id="91" name="Google Shape;91;g3bc7949f234_1_9"/>
          <p:cNvGraphicFramePr/>
          <p:nvPr/>
        </p:nvGraphicFramePr>
        <p:xfrm>
          <a:off x="601909" y="1911875"/>
          <a:ext cx="5321550" cy="1463080"/>
        </p:xfrm>
        <a:graphic>
          <a:graphicData uri="http://schemas.openxmlformats.org/drawingml/2006/table">
            <a:tbl>
              <a:tblPr firstRow="1" bandRow="1">
                <a:noFill/>
                <a:tableStyleId>{8A55EB22-FD97-4300-8888-460C9DE45617}</a:tableStyleId>
              </a:tblPr>
              <a:tblGrid>
                <a:gridCol w="1371275">
                  <a:extLst>
                    <a:ext uri="{9D8B030D-6E8A-4147-A177-3AD203B41FA5}">
                      <a16:colId xmlns:a16="http://schemas.microsoft.com/office/drawing/2014/main" val="20000"/>
                    </a:ext>
                  </a:extLst>
                </a:gridCol>
                <a:gridCol w="3950275">
                  <a:extLst>
                    <a:ext uri="{9D8B030D-6E8A-4147-A177-3AD203B41FA5}">
                      <a16:colId xmlns:a16="http://schemas.microsoft.com/office/drawing/2014/main" val="20001"/>
                    </a:ext>
                  </a:extLst>
                </a:gridCol>
              </a:tblGrid>
              <a:tr h="362275">
                <a:tc gridSpan="2">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Student Details</a:t>
                      </a:r>
                      <a:endParaRPr sz="1400" u="none" strike="noStrike" cap="none"/>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Name</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JILPHA SUSMITH</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Roll No</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20221CSD0066</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622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Cambria"/>
                          <a:ea typeface="Cambria"/>
                          <a:cs typeface="Cambria"/>
                          <a:sym typeface="Cambria"/>
                        </a:rPr>
                        <a:t>Section</a:t>
                      </a:r>
                      <a:endParaRPr sz="14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mbria"/>
                          <a:ea typeface="Cambria"/>
                          <a:cs typeface="Cambria"/>
                          <a:sym typeface="Cambria"/>
                        </a:rPr>
                        <a:t>8CSD02</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3250"/>
              <a:buFont typeface="Arial"/>
              <a:buNone/>
            </a:pPr>
            <a:r>
              <a:rPr lang="en-US" sz="3250" b="1" i="0" u="none" strike="noStrike" cap="none">
                <a:solidFill>
                  <a:srgbClr val="000000"/>
                </a:solidFill>
                <a:latin typeface="Times New Roman"/>
                <a:ea typeface="Times New Roman"/>
                <a:cs typeface="Times New Roman"/>
                <a:sym typeface="Times New Roman"/>
              </a:rPr>
              <a:t>CONTENT:</a:t>
            </a:r>
            <a:endParaRPr sz="3250" b="1" i="0" u="none" strike="noStrike" cap="none">
              <a:solidFill>
                <a:srgbClr val="000000"/>
              </a:solidFill>
              <a:latin typeface="Times New Roman"/>
              <a:ea typeface="Times New Roman"/>
              <a:cs typeface="Times New Roman"/>
              <a:sym typeface="Times New Roman"/>
            </a:endParaRPr>
          </a:p>
        </p:txBody>
      </p:sp>
      <p:sp>
        <p:nvSpPr>
          <p:cNvPr id="97" name="Google Shape;97;p2"/>
          <p:cNvSpPr txBo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Company Brief.</a:t>
            </a:r>
            <a:endParaRPr sz="2800" b="0" i="0" u="none" strike="noStrike" cap="none">
              <a:solidFill>
                <a:srgbClr val="2F5496"/>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Working Domain.</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Team Composition.</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Challenges Faced.</a:t>
            </a:r>
            <a:endParaRPr sz="2000" b="0" i="0" u="none" strike="noStrike" cap="none">
              <a:solidFill>
                <a:srgbClr val="000000"/>
              </a:solidFill>
              <a:latin typeface="Cambria"/>
              <a:ea typeface="Cambria"/>
              <a:cs typeface="Cambria"/>
              <a:sym typeface="Cambria"/>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Objectives.</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Literature Review.</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Proposed System.</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Problem Statement.</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System Requirements.</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Advantages of Proposed System.</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Review Timeline.</a:t>
            </a:r>
            <a:endParaRPr sz="2800" b="0" i="0" u="none" strike="noStrike" cap="none">
              <a:solidFill>
                <a:srgbClr val="000000"/>
              </a:solidFill>
              <a:latin typeface="Calibri"/>
              <a:ea typeface="Calibri"/>
              <a:cs typeface="Calibri"/>
              <a:sym typeface="Calibri"/>
            </a:endParaRPr>
          </a:p>
          <a:p>
            <a:pPr marL="914400" marR="0" lvl="0" indent="-355600" algn="just" rtl="0">
              <a:lnSpc>
                <a:spcPct val="115000"/>
              </a:lnSpc>
              <a:spcBef>
                <a:spcPts val="0"/>
              </a:spcBef>
              <a:spcAft>
                <a:spcPts val="0"/>
              </a:spcAft>
              <a:buClr>
                <a:srgbClr val="2F5496"/>
              </a:buClr>
              <a:buSzPts val="2000"/>
              <a:buFont typeface="Times New Roman"/>
              <a:buAutoNum type="arabicPeriod"/>
            </a:pPr>
            <a:r>
              <a:rPr lang="en-US" sz="2000" b="1" i="0" u="none" strike="noStrike" cap="none">
                <a:solidFill>
                  <a:srgbClr val="2F5496"/>
                </a:solidFill>
                <a:latin typeface="Times New Roman"/>
                <a:ea typeface="Times New Roman"/>
                <a:cs typeface="Times New Roman"/>
                <a:sym typeface="Times New Roman"/>
              </a:rPr>
              <a:t>Github Link.</a:t>
            </a:r>
            <a:endParaRPr sz="2000" b="0" i="0" u="none" strike="noStrike" cap="none">
              <a:solidFill>
                <a:srgbClr val="000000"/>
              </a:solidFill>
              <a:latin typeface="Cambria"/>
              <a:ea typeface="Cambria"/>
              <a:cs typeface="Cambria"/>
              <a:sym typeface="Cambria"/>
            </a:endParaRPr>
          </a:p>
          <a:p>
            <a:pPr marL="495300" marR="0" lvl="0" indent="-19050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3250"/>
              <a:buFont typeface="Arial"/>
              <a:buNone/>
            </a:pPr>
            <a:r>
              <a:rPr lang="en-US" sz="3250" b="1" i="0" u="none" strike="noStrike" cap="none">
                <a:solidFill>
                  <a:srgbClr val="2F5496"/>
                </a:solidFill>
                <a:latin typeface="Times New Roman"/>
                <a:ea typeface="Times New Roman"/>
                <a:cs typeface="Times New Roman"/>
                <a:sym typeface="Times New Roman"/>
              </a:rPr>
              <a:t>Company Brief:</a:t>
            </a:r>
            <a:endParaRPr sz="3250" b="0" i="0" u="none" strike="noStrike" cap="none">
              <a:solidFill>
                <a:srgbClr val="2F5496"/>
              </a:solidFill>
              <a:latin typeface="Calibri"/>
              <a:ea typeface="Calibri"/>
              <a:cs typeface="Calibri"/>
              <a:sym typeface="Calibri"/>
            </a:endParaRPr>
          </a:p>
        </p:txBody>
      </p:sp>
      <p:sp>
        <p:nvSpPr>
          <p:cNvPr id="103" name="Google Shape;103;p3"/>
          <p:cNvSpPr txBo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just" rtl="0">
              <a:lnSpc>
                <a:spcPct val="100000"/>
              </a:lnSpc>
              <a:spcBef>
                <a:spcPts val="0"/>
              </a:spcBef>
              <a:spcAft>
                <a:spcPts val="0"/>
              </a:spcAft>
              <a:buClr>
                <a:srgbClr val="000000"/>
              </a:buClr>
              <a:buSzPct val="100000"/>
              <a:buFont typeface="Arial"/>
              <a:buNone/>
            </a:pPr>
            <a:r>
              <a:rPr lang="en-US" sz="9730" b="1" i="0" u="none" strike="noStrike" cap="none">
                <a:solidFill>
                  <a:srgbClr val="000000"/>
                </a:solidFill>
                <a:latin typeface="Times New Roman"/>
                <a:ea typeface="Times New Roman"/>
                <a:cs typeface="Times New Roman"/>
                <a:sym typeface="Times New Roman"/>
              </a:rPr>
              <a:t>About Nineleaps:</a:t>
            </a:r>
            <a:endParaRPr sz="9730" b="1"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1000"/>
              </a:spcBef>
              <a:spcAft>
                <a:spcPts val="0"/>
              </a:spcAft>
              <a:buClr>
                <a:srgbClr val="000000"/>
              </a:buClr>
              <a:buSzPct val="100000"/>
              <a:buFont typeface="Times New Roman"/>
              <a:buAutoNum type="arabicPeriod"/>
            </a:pPr>
            <a:r>
              <a:rPr lang="en-US" sz="9730" i="0" u="none" strike="noStrike" cap="none">
                <a:solidFill>
                  <a:srgbClr val="000000"/>
                </a:solidFill>
                <a:latin typeface="Times New Roman"/>
                <a:ea typeface="Times New Roman"/>
                <a:cs typeface="Times New Roman"/>
                <a:sym typeface="Times New Roman"/>
              </a:rPr>
              <a:t>Nineleaps is a data and analytics consulting company that focuses on helping organizations become data-driven. The company works with clients across multiple industries to solve business problems using data analytics, artificial intelligence, and digital transformation.</a:t>
            </a:r>
            <a:endParaRPr sz="9730" i="0" u="none" strike="noStrike" cap="none">
              <a:solidFill>
                <a:srgbClr val="000000"/>
              </a:solidFill>
              <a:latin typeface="Times New Roman"/>
              <a:ea typeface="Times New Roman"/>
              <a:cs typeface="Times New Roman"/>
              <a:sym typeface="Times New Roman"/>
            </a:endParaRPr>
          </a:p>
          <a:p>
            <a:pPr marL="228600" marR="0" lvl="0" indent="0" algn="just" rtl="0">
              <a:lnSpc>
                <a:spcPct val="100000"/>
              </a:lnSpc>
              <a:spcBef>
                <a:spcPts val="0"/>
              </a:spcBef>
              <a:spcAft>
                <a:spcPts val="0"/>
              </a:spcAft>
              <a:buClr>
                <a:srgbClr val="000000"/>
              </a:buClr>
              <a:buSzPct val="100000"/>
              <a:buFont typeface="Arial"/>
              <a:buNone/>
            </a:pPr>
            <a:endParaRPr sz="9730" b="0" i="0" u="none" strike="noStrike" cap="none">
              <a:solidFill>
                <a:srgbClr val="00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ct val="100000"/>
              <a:buFont typeface="Arial"/>
              <a:buNone/>
            </a:pPr>
            <a:r>
              <a:rPr lang="en-US" sz="9730" b="1" i="0" u="none" strike="noStrike" cap="none">
                <a:solidFill>
                  <a:srgbClr val="000000"/>
                </a:solidFill>
                <a:latin typeface="Times New Roman"/>
                <a:ea typeface="Times New Roman"/>
                <a:cs typeface="Times New Roman"/>
                <a:sym typeface="Times New Roman"/>
              </a:rPr>
              <a:t>Services &amp; Offerings:</a:t>
            </a:r>
            <a:endParaRPr sz="9730" b="1"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100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Data Analytics &amp; Business Intelligence.</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Data Engineering &amp; Cloud Solutions.</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AI &amp; Machine Learning Solutions.</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Product Engineering &amp; Consulting.</a:t>
            </a:r>
            <a:endParaRPr sz="9730" b="0" i="0" u="none" strike="noStrike" cap="none">
              <a:solidFill>
                <a:srgbClr val="000000"/>
              </a:solidFill>
              <a:latin typeface="Times New Roman"/>
              <a:ea typeface="Times New Roman"/>
              <a:cs typeface="Times New Roman"/>
              <a:sym typeface="Times New Roman"/>
            </a:endParaRPr>
          </a:p>
          <a:p>
            <a:pPr marL="914400" marR="0" lvl="0" indent="-383140" algn="just" rtl="0">
              <a:lnSpc>
                <a:spcPct val="115000"/>
              </a:lnSpc>
              <a:spcBef>
                <a:spcPts val="0"/>
              </a:spcBef>
              <a:spcAft>
                <a:spcPts val="0"/>
              </a:spcAft>
              <a:buClr>
                <a:srgbClr val="000000"/>
              </a:buClr>
              <a:buSzPct val="100000"/>
              <a:buFont typeface="Times New Roman"/>
              <a:buAutoNum type="arabicPeriod"/>
            </a:pPr>
            <a:r>
              <a:rPr lang="en-US" sz="9730" b="0" i="0" u="none" strike="noStrike" cap="none">
                <a:solidFill>
                  <a:srgbClr val="000000"/>
                </a:solidFill>
                <a:latin typeface="Times New Roman"/>
                <a:ea typeface="Times New Roman"/>
                <a:cs typeface="Times New Roman"/>
                <a:sym typeface="Times New Roman"/>
              </a:rPr>
              <a:t>Digital Transformation Services.</a:t>
            </a:r>
            <a:endParaRPr sz="9730" b="0" i="0" u="none" strike="noStrike" cap="none">
              <a:solidFill>
                <a:srgbClr val="000000"/>
              </a:solidFill>
              <a:latin typeface="Times New Roman"/>
              <a:ea typeface="Times New Roman"/>
              <a:cs typeface="Times New Roman"/>
              <a:sym typeface="Times New Roman"/>
            </a:endParaRPr>
          </a:p>
          <a:p>
            <a:pPr marL="685800" marR="0" lvl="1" indent="-87630" algn="just" rtl="0">
              <a:lnSpc>
                <a:spcPct val="100000"/>
              </a:lnSpc>
              <a:spcBef>
                <a:spcPts val="0"/>
              </a:spcBef>
              <a:spcAft>
                <a:spcPts val="0"/>
              </a:spcAft>
              <a:buClr>
                <a:srgbClr val="000000"/>
              </a:buClr>
              <a:buSzPct val="100000"/>
              <a:buFont typeface="Arial"/>
              <a:buNone/>
            </a:pPr>
            <a:endParaRPr sz="2400" b="0" i="0" u="none" strike="noStrike" cap="none">
              <a:solidFill>
                <a:srgbClr val="000000"/>
              </a:solidFill>
              <a:latin typeface="Times New Roman"/>
              <a:ea typeface="Times New Roman"/>
              <a:cs typeface="Times New Roman"/>
              <a:sym typeface="Times New Roman"/>
            </a:endParaRPr>
          </a:p>
          <a:p>
            <a:pPr marL="228600" marR="0" lvl="0" indent="-64135" algn="just" rtl="0">
              <a:lnSpc>
                <a:spcPct val="100000"/>
              </a:lnSpc>
              <a:spcBef>
                <a:spcPts val="0"/>
              </a:spcBef>
              <a:spcAft>
                <a:spcPts val="0"/>
              </a:spcAft>
              <a:buClr>
                <a:srgbClr val="000000"/>
              </a:buClr>
              <a:buSzPct val="100000"/>
              <a:buFont typeface="Arial"/>
              <a:buNone/>
            </a:pPr>
            <a:endParaRPr sz="2800" b="0" i="0" u="none" strike="noStrike" cap="none">
              <a:solidFill>
                <a:srgbClr val="000000"/>
              </a:solidFill>
              <a:latin typeface="Times New Roman"/>
              <a:ea typeface="Times New Roman"/>
              <a:cs typeface="Times New Roman"/>
              <a:sym typeface="Times New Roman"/>
            </a:endParaRPr>
          </a:p>
        </p:txBody>
      </p:sp>
      <p:sp>
        <p:nvSpPr>
          <p:cNvPr id="104" name="Google Shape;104;p3"/>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Calibri"/>
                <a:ea typeface="Calibri"/>
                <a:cs typeface="Calibri"/>
                <a:sym typeface="Calibri"/>
              </a:rPr>
              <a:t>3</a:t>
            </a:fld>
            <a:endParaRPr sz="1200" b="0" i="0" u="none" strike="noStrike" cap="non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686400" y="3237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sz="3250" b="1">
                <a:solidFill>
                  <a:schemeClr val="accent1"/>
                </a:solidFill>
                <a:latin typeface="Times New Roman"/>
                <a:ea typeface="Times New Roman"/>
                <a:cs typeface="Times New Roman"/>
                <a:sym typeface="Times New Roman"/>
              </a:rPr>
              <a:t>Clients and Industries</a:t>
            </a:r>
            <a:endParaRPr sz="3250">
              <a:latin typeface="Times New Roman"/>
              <a:ea typeface="Times New Roman"/>
              <a:cs typeface="Times New Roman"/>
              <a:sym typeface="Times New Roman"/>
            </a:endParaRPr>
          </a:p>
        </p:txBody>
      </p:sp>
      <p:sp>
        <p:nvSpPr>
          <p:cNvPr id="110" name="Google Shape;110;p4"/>
          <p:cNvSpPr txBox="1">
            <a:spLocks noGrp="1"/>
          </p:cNvSpPr>
          <p:nvPr>
            <p:ph type="body" idx="1"/>
          </p:nvPr>
        </p:nvSpPr>
        <p:spPr>
          <a:xfrm>
            <a:off x="576025" y="1480675"/>
            <a:ext cx="10515600" cy="4351200"/>
          </a:xfrm>
          <a:prstGeom prst="rect">
            <a:avLst/>
          </a:prstGeom>
          <a:noFill/>
          <a:ln>
            <a:noFill/>
          </a:ln>
        </p:spPr>
        <p:txBody>
          <a:bodyPr spcFirstLastPara="1" wrap="square" lIns="91425" tIns="45700" rIns="91425" bIns="45700" anchor="t" anchorCtr="0">
            <a:normAutofit/>
          </a:bodyPr>
          <a:lstStyle/>
          <a:p>
            <a:pPr marL="457200" lvl="0" indent="-381000" algn="just" rtl="0">
              <a:lnSpc>
                <a:spcPct val="90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Nineleaps works with 100+ global clients, including startups, mid-size firms, and Fortune 500 companies  across sectors such as retail, finance, healthcare, mobility, logistics, and real estate. </a:t>
            </a:r>
            <a:endParaRPr sz="2400">
              <a:latin typeface="Times New Roman"/>
              <a:ea typeface="Times New Roman"/>
              <a:cs typeface="Times New Roman"/>
              <a:sym typeface="Times New Roman"/>
            </a:endParaRPr>
          </a:p>
          <a:p>
            <a:pPr marL="457200" lvl="0" indent="-381000" algn="just" rtl="0">
              <a:lnSpc>
                <a:spcPct val="90000"/>
              </a:lnSpc>
              <a:spcBef>
                <a:spcPts val="0"/>
              </a:spcBef>
              <a:spcAft>
                <a:spcPts val="0"/>
              </a:spcAft>
              <a:buSzPts val="2400"/>
              <a:buFont typeface="Times New Roman"/>
              <a:buAutoNum type="arabicPeriod"/>
            </a:pPr>
            <a:r>
              <a:rPr lang="en-US" sz="2400">
                <a:latin typeface="Times New Roman"/>
                <a:ea typeface="Times New Roman"/>
                <a:cs typeface="Times New Roman"/>
                <a:sym typeface="Times New Roman"/>
              </a:rPr>
              <a:t>They build scalable applications, AI-enabled platforms, digital transformation roadmaps, and tailored software solutions that help businesses adapt to changing technology landscapes.</a:t>
            </a:r>
            <a:endParaRPr sz="24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
        <p:nvSpPr>
          <p:cNvPr id="111" name="Google Shape;111;p4"/>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31-01-2026</a:t>
            </a:r>
            <a:endParaRPr/>
          </a:p>
        </p:txBody>
      </p:sp>
      <p:sp>
        <p:nvSpPr>
          <p:cNvPr id="112" name="Google Shape;11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Working domain</a:t>
            </a:r>
            <a:r>
              <a:rPr lang="en-US" sz="3200" b="1" dirty="0">
                <a:solidFill>
                  <a:srgbClr val="2F5496"/>
                </a:solidFill>
                <a:latin typeface="Times New Roman"/>
                <a:ea typeface="Times New Roman"/>
                <a:cs typeface="Times New Roman"/>
                <a:sym typeface="Times New Roman"/>
              </a:rPr>
              <a:t> </a:t>
            </a:r>
            <a:endParaRPr dirty="0"/>
          </a:p>
        </p:txBody>
      </p:sp>
      <p:sp>
        <p:nvSpPr>
          <p:cNvPr id="118" name="Google Shape;118;p5"/>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n-US" b="1" dirty="0">
                <a:latin typeface="Times New Roman"/>
                <a:ea typeface="Times New Roman"/>
                <a:cs typeface="Times New Roman"/>
                <a:sym typeface="Times New Roman"/>
              </a:rPr>
              <a:t>Assigned Domain:</a:t>
            </a:r>
            <a:r>
              <a:rPr lang="en-US" dirty="0">
                <a:latin typeface="Times New Roman"/>
                <a:ea typeface="Times New Roman"/>
                <a:cs typeface="Times New Roman"/>
                <a:sym typeface="Times New Roman"/>
              </a:rPr>
              <a:t> Data Analytics.</a:t>
            </a:r>
            <a:endParaRPr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Data Analytics involves collecting, cleaning, and analyzing data.</a:t>
            </a:r>
            <a:endParaRPr sz="2400"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It helps in identifying patterns and insights for decision-making.</a:t>
            </a:r>
            <a:endParaRPr sz="2400" dirty="0">
              <a:latin typeface="Times New Roman"/>
              <a:ea typeface="Times New Roman"/>
              <a:cs typeface="Times New Roman"/>
              <a:sym typeface="Times New Roman"/>
            </a:endParaRPr>
          </a:p>
          <a:p>
            <a:pPr marL="914400" lvl="0" indent="-381000" algn="l"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Used across industries to improve efficiency and business performance.</a:t>
            </a:r>
            <a:endParaRPr sz="2400" dirty="0">
              <a:latin typeface="Times New Roman"/>
              <a:ea typeface="Times New Roman"/>
              <a:cs typeface="Times New Roman"/>
              <a:sym typeface="Times New Roman"/>
            </a:endParaRPr>
          </a:p>
          <a:p>
            <a:pPr marL="228600" lvl="0" indent="-50800" algn="l" rtl="0">
              <a:lnSpc>
                <a:spcPct val="100000"/>
              </a:lnSpc>
              <a:spcBef>
                <a:spcPts val="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About  team and reporting Manager</a:t>
            </a:r>
            <a:endParaRPr sz="3250" dirty="0"/>
          </a:p>
        </p:txBody>
      </p:sp>
      <p:sp>
        <p:nvSpPr>
          <p:cNvPr id="125" name="Google Shape;125;p6"/>
          <p:cNvSpPr txBox="1">
            <a:spLocks noGrp="1"/>
          </p:cNvSpPr>
          <p:nvPr>
            <p:ph type="body" idx="1"/>
          </p:nvPr>
        </p:nvSpPr>
        <p:spPr>
          <a:xfrm>
            <a:off x="995855" y="1184366"/>
            <a:ext cx="10515600" cy="4058194"/>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SzPts val="1800"/>
              <a:buNone/>
            </a:pPr>
            <a:r>
              <a:rPr lang="en-US" sz="2400" b="1" dirty="0">
                <a:latin typeface="Times New Roman"/>
                <a:ea typeface="Times New Roman"/>
                <a:cs typeface="Times New Roman"/>
                <a:sym typeface="Times New Roman"/>
              </a:rPr>
              <a:t>Team Coordination and Workflow</a:t>
            </a:r>
          </a:p>
          <a:p>
            <a:pPr marL="914400" lvl="0" indent="-381000" algn="just" rtl="0">
              <a:lnSpc>
                <a:spcPct val="100000"/>
              </a:lnSpc>
              <a:spcBef>
                <a:spcPts val="1000"/>
              </a:spcBef>
              <a:spcAft>
                <a:spcPts val="0"/>
              </a:spcAft>
              <a:buSzPts val="2400"/>
              <a:buFont typeface="Times New Roman"/>
              <a:buAutoNum type="arabicPeriod"/>
            </a:pPr>
            <a:r>
              <a:rPr lang="en-US" sz="2400" dirty="0">
                <a:latin typeface="Times New Roman"/>
                <a:ea typeface="Times New Roman"/>
                <a:cs typeface="Times New Roman"/>
                <a:sym typeface="Times New Roman"/>
              </a:rPr>
              <a:t>Conduct a daily stand-up call every morning.</a:t>
            </a:r>
          </a:p>
          <a:p>
            <a:pPr marL="914400" lvl="1" indent="-381000" algn="just" rtl="0">
              <a:lnSpc>
                <a:spcPct val="100000"/>
              </a:lnSpc>
              <a:spcBef>
                <a:spcPts val="0"/>
              </a:spcBef>
              <a:spcAft>
                <a:spcPts val="0"/>
              </a:spcAft>
              <a:buSzPts val="2400"/>
              <a:buFont typeface="Times New Roman"/>
              <a:buChar char="•"/>
            </a:pPr>
            <a:r>
              <a:rPr lang="en-US" u="sng" dirty="0">
                <a:solidFill>
                  <a:schemeClr val="hlink"/>
                </a:solidFill>
                <a:latin typeface="Times New Roman"/>
                <a:ea typeface="Times New Roman"/>
                <a:cs typeface="Times New Roman"/>
                <a:sym typeface="Times New Roman"/>
                <a:hlinkClick r:id="rId3"/>
              </a:rPr>
              <a:t>https://docs.google.com/spreadsheets/d/1_azwkN5nxKBeWa-GqM3sn02x9CgDlKdxXKAd8swtOH0/edit?usp=drivesdk</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Tasks for the day are discussed and assigned.</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Dependencies and blockers  are clarified.</a:t>
            </a:r>
            <a:endParaRPr sz="2400" dirty="0">
              <a:latin typeface="Times New Roman"/>
              <a:ea typeface="Times New Roman"/>
              <a:cs typeface="Times New Roman"/>
              <a:sym typeface="Times New Roman"/>
            </a:endParaRPr>
          </a:p>
          <a:p>
            <a:pPr marL="914400" lvl="0" indent="-381000" algn="just" rtl="0">
              <a:lnSpc>
                <a:spcPct val="10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At the end of each day, progress updates are shared with the project manager.</a:t>
            </a:r>
            <a:endParaRPr sz="2400" dirty="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800"/>
              <a:buNone/>
            </a:pPr>
            <a:endParaRPr sz="2400" dirty="0">
              <a:latin typeface="Times New Roman"/>
              <a:ea typeface="Times New Roman"/>
              <a:cs typeface="Times New Roman"/>
              <a:sym typeface="Times New Roman"/>
            </a:endParaRPr>
          </a:p>
        </p:txBody>
      </p:sp>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7554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00" b="1">
                <a:solidFill>
                  <a:srgbClr val="2F5496"/>
                </a:solidFill>
                <a:latin typeface="Times New Roman"/>
                <a:ea typeface="Times New Roman"/>
                <a:cs typeface="Times New Roman"/>
                <a:sym typeface="Times New Roman"/>
              </a:rPr>
              <a:t>Challenges Faced in Internship</a:t>
            </a:r>
            <a:endParaRPr/>
          </a:p>
        </p:txBody>
      </p:sp>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33" name="Google Shape;133;p7"/>
          <p:cNvSpPr txBox="1">
            <a:spLocks noGrp="1"/>
          </p:cNvSpPr>
          <p:nvPr>
            <p:ph type="body" idx="1"/>
          </p:nvPr>
        </p:nvSpPr>
        <p:spPr>
          <a:xfrm>
            <a:off x="852000" y="1184437"/>
            <a:ext cx="11022000" cy="4525200"/>
          </a:xfrm>
          <a:prstGeom prst="rect">
            <a:avLst/>
          </a:prstGeom>
          <a:noFill/>
          <a:ln>
            <a:noFill/>
          </a:ln>
        </p:spPr>
        <p:txBody>
          <a:bodyPr spcFirstLastPara="1" wrap="square" lIns="91425" tIns="45700" rIns="91425" bIns="45700" anchor="ctr" anchorCtr="0">
            <a:spAutoFit/>
          </a:bodyPr>
          <a:lstStyle/>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Coordination with Team Members</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Collaborating with teammates from different colleges required clear communication and alignment on tasks.</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Understanding Large and Complex Datasets</a:t>
            </a:r>
            <a:br>
              <a:rPr lang="en-US" sz="2400" i="0" u="none" strike="noStrike" cap="none" dirty="0">
                <a:solidFill>
                  <a:schemeClr val="dk1"/>
                </a:solidFill>
                <a:latin typeface="Times New Roman"/>
                <a:ea typeface="Times New Roman"/>
                <a:cs typeface="Times New Roman"/>
                <a:sym typeface="Times New Roman"/>
              </a:rPr>
            </a:br>
            <a:r>
              <a:rPr lang="en-US" sz="2400" dirty="0">
                <a:latin typeface="Times New Roman"/>
                <a:ea typeface="Times New Roman"/>
                <a:cs typeface="Times New Roman"/>
                <a:sym typeface="Times New Roman"/>
              </a:rPr>
              <a:t>Raw</a:t>
            </a:r>
            <a:r>
              <a:rPr lang="en-US" sz="2400" i="0" u="none" strike="noStrike" cap="none" dirty="0">
                <a:solidFill>
                  <a:schemeClr val="dk1"/>
                </a:solidFill>
                <a:latin typeface="Times New Roman"/>
                <a:ea typeface="Times New Roman"/>
                <a:cs typeface="Times New Roman"/>
                <a:sym typeface="Times New Roman"/>
              </a:rPr>
              <a:t> data was extensive, making it challenging to understand structure, dependencies, and relevance initially.</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Data Quality Issues</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Handling missing values, inconsistent formats, and noisy data during the data validation phase required extra effort.</a:t>
            </a:r>
            <a:endParaRPr sz="2400" dirty="0">
              <a:latin typeface="Times New Roman"/>
              <a:ea typeface="Times New Roman"/>
              <a:cs typeface="Times New Roman"/>
              <a:sym typeface="Times New Roman"/>
            </a:endParaRPr>
          </a:p>
          <a:p>
            <a:pPr marL="457200" marR="0" lvl="0" indent="-381000" algn="l" rtl="0">
              <a:lnSpc>
                <a:spcPct val="100000"/>
              </a:lnSpc>
              <a:spcBef>
                <a:spcPts val="0"/>
              </a:spcBef>
              <a:spcAft>
                <a:spcPts val="0"/>
              </a:spcAft>
              <a:buClr>
                <a:schemeClr val="dk1"/>
              </a:buClr>
              <a:buSzPts val="2400"/>
              <a:buFont typeface="Times New Roman"/>
              <a:buAutoNum type="arabicPeriod"/>
            </a:pPr>
            <a:r>
              <a:rPr lang="en-US" sz="2400" b="1" i="0" u="none" strike="noStrike" cap="none" dirty="0">
                <a:solidFill>
                  <a:schemeClr val="dk1"/>
                </a:solidFill>
                <a:latin typeface="Times New Roman"/>
                <a:ea typeface="Times New Roman"/>
                <a:cs typeface="Times New Roman"/>
                <a:sym typeface="Times New Roman"/>
              </a:rPr>
              <a:t>Time Management</a:t>
            </a:r>
            <a:br>
              <a:rPr lang="en-US" sz="2400" i="0" u="none" strike="noStrike" cap="none" dirty="0">
                <a:solidFill>
                  <a:schemeClr val="dk1"/>
                </a:solidFill>
                <a:latin typeface="Times New Roman"/>
                <a:ea typeface="Times New Roman"/>
                <a:cs typeface="Times New Roman"/>
                <a:sym typeface="Times New Roman"/>
              </a:rPr>
            </a:br>
            <a:r>
              <a:rPr lang="en-US" sz="2400" i="0" u="none" strike="noStrike" cap="none" dirty="0">
                <a:solidFill>
                  <a:schemeClr val="dk1"/>
                </a:solidFill>
                <a:latin typeface="Times New Roman"/>
                <a:ea typeface="Times New Roman"/>
                <a:cs typeface="Times New Roman"/>
                <a:sym typeface="Times New Roman"/>
              </a:rPr>
              <a:t>Balancing daily stand-up deliverables with academic responsibilities was challenging at times.</a:t>
            </a:r>
            <a:endParaRPr sz="24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a:buNone/>
            </a:pPr>
            <a:r>
              <a:rPr lang="en-US" sz="3250" b="1" dirty="0">
                <a:solidFill>
                  <a:srgbClr val="2F5496"/>
                </a:solidFill>
                <a:latin typeface="Times New Roman"/>
                <a:ea typeface="Times New Roman"/>
                <a:cs typeface="Times New Roman"/>
                <a:sym typeface="Times New Roman"/>
              </a:rPr>
              <a:t>Objectives of the work</a:t>
            </a:r>
            <a:endParaRPr sz="3250" b="1" dirty="0"/>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40" name="Google Shape;140;p8"/>
          <p:cNvSpPr txBox="1">
            <a:spLocks noGrp="1"/>
          </p:cNvSpPr>
          <p:nvPr>
            <p:ph type="body" idx="1"/>
          </p:nvPr>
        </p:nvSpPr>
        <p:spPr>
          <a:xfrm>
            <a:off x="838200" y="1093711"/>
            <a:ext cx="9874500" cy="1715301"/>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Perform Extract, Transform, Load (ETL) operations on the Uber dataset. </a:t>
            </a:r>
          </a:p>
          <a:p>
            <a:pPr marL="571500" indent="-457200" algn="just">
              <a:buFont typeface="+mj-lt"/>
              <a:buAutoNum type="arabicPeriod"/>
            </a:pPr>
            <a:r>
              <a:rPr lang="en-US" sz="2400" dirty="0">
                <a:highlight>
                  <a:srgbClr val="FFFFFF"/>
                </a:highlight>
                <a:latin typeface="Times New Roman" panose="02020603050405020304" pitchFamily="18" charset="0"/>
                <a:cs typeface="Times New Roman" panose="02020603050405020304" pitchFamily="18" charset="0"/>
              </a:rPr>
              <a:t>Conduct Exploratory Data Analysis (EDA) to identify patterns in the dataset.</a:t>
            </a:r>
          </a:p>
          <a:p>
            <a:pPr marL="0" marR="0" lvl="0" indent="0" algn="just" rtl="0">
              <a:lnSpc>
                <a:spcPct val="100000"/>
              </a:lnSpc>
              <a:spcBef>
                <a:spcPts val="0"/>
              </a:spcBef>
              <a:spcAft>
                <a:spcPts val="0"/>
              </a:spcAft>
              <a:buSzPts val="1800"/>
              <a:buNone/>
            </a:pP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Proposed System </a:t>
            </a:r>
            <a:endParaRPr sz="3250"/>
          </a:p>
        </p:txBody>
      </p:sp>
      <p:sp>
        <p:nvSpPr>
          <p:cNvPr id="146" name="Google Shape;14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47" name="Google Shape;147;p10"/>
          <p:cNvSpPr txBox="1">
            <a:spLocks noGrp="1"/>
          </p:cNvSpPr>
          <p:nvPr>
            <p:ph type="body" idx="1"/>
          </p:nvPr>
        </p:nvSpPr>
        <p:spPr>
          <a:xfrm>
            <a:off x="927900" y="1184366"/>
            <a:ext cx="11264100" cy="2764819"/>
          </a:xfrm>
          <a:prstGeom prst="rect">
            <a:avLst/>
          </a:prstGeom>
          <a:noFill/>
          <a:ln>
            <a:noFill/>
          </a:ln>
        </p:spPr>
        <p:txBody>
          <a:bodyPr spcFirstLastPara="1" wrap="square" lIns="91425" tIns="45700" rIns="91425" bIns="45700" anchor="ctr" anchorCtr="0">
            <a:spAutoFit/>
          </a:bodyPr>
          <a:lstStyle/>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Extraction:</a:t>
            </a:r>
            <a:r>
              <a:rPr lang="en-IN" sz="2400" dirty="0">
                <a:latin typeface="Times New Roman" panose="02020603050405020304" pitchFamily="18" charset="0"/>
                <a:cs typeface="Times New Roman" panose="02020603050405020304" pitchFamily="18" charset="0"/>
              </a:rPr>
              <a:t> Load Uber dataset using Pandas.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Transformation:</a:t>
            </a:r>
            <a:r>
              <a:rPr lang="en-IN" sz="2400" dirty="0">
                <a:latin typeface="Times New Roman" panose="02020603050405020304" pitchFamily="18" charset="0"/>
                <a:cs typeface="Times New Roman" panose="02020603050405020304" pitchFamily="18" charset="0"/>
              </a:rPr>
              <a:t> Clean data, fix formats, create time-based features.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Loading:</a:t>
            </a:r>
            <a:r>
              <a:rPr lang="en-IN" sz="2400" dirty="0">
                <a:latin typeface="Times New Roman" panose="02020603050405020304" pitchFamily="18" charset="0"/>
                <a:cs typeface="Times New Roman" panose="02020603050405020304" pitchFamily="18" charset="0"/>
              </a:rPr>
              <a:t> Store processed data for easy access.</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EDA(Exploratory Data Analysis):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patterns using Matplotlib &amp; Seaborn.</a:t>
            </a:r>
          </a:p>
          <a:p>
            <a:pPr marL="571500" indent="-457200" algn="just">
              <a:buFont typeface="+mj-lt"/>
              <a:buAutoNum type="arabicPeriod"/>
            </a:pPr>
            <a:r>
              <a:rPr lang="en-IN" sz="2400" b="1" dirty="0">
                <a:latin typeface="Times New Roman" panose="02020603050405020304" pitchFamily="18" charset="0"/>
                <a:cs typeface="Times New Roman" panose="02020603050405020304" pitchFamily="18" charset="0"/>
              </a:rPr>
              <a:t>Insights:</a:t>
            </a:r>
            <a:r>
              <a:rPr lang="en-IN" sz="2400" dirty="0">
                <a:latin typeface="Times New Roman" panose="02020603050405020304" pitchFamily="18" charset="0"/>
                <a:cs typeface="Times New Roman" panose="02020603050405020304" pitchFamily="18" charset="0"/>
              </a:rPr>
              <a:t> Visualize trends like peak hours and pickup locations.</a:t>
            </a:r>
          </a:p>
          <a:p>
            <a:pPr marL="457200" marR="0" lvl="0" indent="0" algn="l" rtl="0">
              <a:lnSpc>
                <a:spcPct val="100000"/>
              </a:lnSpc>
              <a:spcBef>
                <a:spcPts val="0"/>
              </a:spcBef>
              <a:spcAft>
                <a:spcPts val="0"/>
              </a:spcAft>
              <a:buSzPts val="1800"/>
              <a:buNone/>
            </a:pPr>
            <a:endParaRPr sz="2400" b="1"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1"/>
          <p:cNvSpPr txBox="1">
            <a:spLocks noGrp="1"/>
          </p:cNvSpPr>
          <p:nvPr>
            <p:ph type="title"/>
          </p:nvPr>
        </p:nvSpPr>
        <p:spPr>
          <a:xfrm>
            <a:off x="824401" y="365125"/>
            <a:ext cx="10515600" cy="8193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Problem Statement</a:t>
            </a:r>
            <a:endParaRPr sz="3250"/>
          </a:p>
        </p:txBody>
      </p:sp>
      <p:sp>
        <p:nvSpPr>
          <p:cNvPr id="153" name="Google Shape;153;p11"/>
          <p:cNvSpPr txBox="1">
            <a:spLocks noGrp="1"/>
          </p:cNvSpPr>
          <p:nvPr>
            <p:ph type="body" idx="1"/>
          </p:nvPr>
        </p:nvSpPr>
        <p:spPr>
          <a:xfrm>
            <a:off x="838200" y="1184367"/>
            <a:ext cx="10515600" cy="4058194"/>
          </a:xfrm>
          <a:prstGeom prst="rect">
            <a:avLst/>
          </a:prstGeom>
          <a:noFill/>
          <a:ln>
            <a:noFill/>
          </a:ln>
        </p:spPr>
        <p:txBody>
          <a:bodyPr spcFirstLastPara="1" wrap="square" lIns="0" tIns="45700" rIns="91425" bIns="45700" anchor="t" anchorCtr="0">
            <a:normAutofit/>
          </a:bodyPr>
          <a:lstStyle/>
          <a:p>
            <a:pPr marL="76200" lvl="0" indent="0" algn="just">
              <a:lnSpc>
                <a:spcPct val="100000"/>
              </a:lnSpc>
              <a:spcBef>
                <a:spcPts val="0"/>
              </a:spcBef>
              <a:buSzPts val="2400"/>
              <a:buNone/>
            </a:pPr>
            <a:r>
              <a:rPr lang="en-US" sz="2400" dirty="0"/>
              <a:t>Uber generates massive volumes of trip data, but the raw dataset is often unstructured, contains missing values, and lacks directly usable insights.</a:t>
            </a:r>
            <a:br>
              <a:rPr lang="en-US" sz="2400" dirty="0"/>
            </a:br>
            <a:r>
              <a:rPr lang="en-US" sz="2400" dirty="0"/>
              <a:t>Without proper processing, it is difficult to identify important patterns such as peak ride hours, daily trends, and geographic demand distribution.</a:t>
            </a:r>
            <a:br>
              <a:rPr lang="en-US" sz="2400" dirty="0"/>
            </a:br>
            <a:r>
              <a:rPr lang="en-US" sz="2400" dirty="0"/>
              <a:t>This creates a need for an efficient ETL pipeline using tools like Pandas to clean and structure the data. Additionally, applying EDA with visualization libraries such as Matplotlib and Seaborn helps uncover hidden trends. The goal is to transform raw Uber data into meaningful insights that support data-driven decision making.</a:t>
            </a:r>
            <a:endParaRPr sz="2400" dirty="0">
              <a:latin typeface="Times New Roman"/>
              <a:ea typeface="Times New Roman"/>
              <a:cs typeface="Times New Roman"/>
              <a:sym typeface="Times New Roman"/>
            </a:endParaRPr>
          </a:p>
        </p:txBody>
      </p:sp>
      <p:sp>
        <p:nvSpPr>
          <p:cNvPr id="154" name="Google Shape;15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System Requirements</a:t>
            </a:r>
            <a:endParaRPr sz="3250"/>
          </a:p>
        </p:txBody>
      </p:sp>
      <p:sp>
        <p:nvSpPr>
          <p:cNvPr id="160" name="Google Shape;160;p12"/>
          <p:cNvSpPr txBox="1">
            <a:spLocks noGrp="1"/>
          </p:cNvSpPr>
          <p:nvPr>
            <p:ph type="body" idx="1"/>
          </p:nvPr>
        </p:nvSpPr>
        <p:spPr>
          <a:xfrm>
            <a:off x="838200" y="1184367"/>
            <a:ext cx="10515600" cy="4058194"/>
          </a:xfrm>
          <a:prstGeom prst="rect">
            <a:avLst/>
          </a:prstGeom>
          <a:noFill/>
          <a:ln>
            <a:noFill/>
          </a:ln>
        </p:spPr>
        <p:txBody>
          <a:bodyPr spcFirstLastPara="1" wrap="square" lIns="114300" tIns="45700" rIns="91425" bIns="45700" anchor="t" anchorCtr="0">
            <a:normAutofit/>
          </a:bodyPr>
          <a:lstStyle/>
          <a:p>
            <a:pPr marL="457200" lvl="0" indent="-381000" algn="just" rtl="0">
              <a:lnSpc>
                <a:spcPct val="7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VS Code.</a:t>
            </a:r>
            <a:endParaRPr sz="2400" dirty="0">
              <a:latin typeface="Times New Roman"/>
              <a:ea typeface="Times New Roman"/>
              <a:cs typeface="Times New Roman"/>
              <a:sym typeface="Times New Roman"/>
            </a:endParaRPr>
          </a:p>
          <a:p>
            <a:pPr marL="457200" lvl="0" indent="-381000" algn="just" rtl="0">
              <a:lnSpc>
                <a:spcPct val="70000"/>
              </a:lnSpc>
              <a:spcBef>
                <a:spcPts val="0"/>
              </a:spcBef>
              <a:spcAft>
                <a:spcPts val="0"/>
              </a:spcAft>
              <a:buSzPts val="2400"/>
              <a:buFont typeface="Times New Roman"/>
              <a:buAutoNum type="arabicPeriod"/>
            </a:pPr>
            <a:r>
              <a:rPr lang="en-US" sz="2400" dirty="0">
                <a:latin typeface="Times New Roman"/>
                <a:ea typeface="Times New Roman"/>
                <a:cs typeface="Times New Roman"/>
                <a:sym typeface="Times New Roman"/>
              </a:rPr>
              <a:t>Command Prompt/Terminal.</a:t>
            </a:r>
            <a:endParaRPr sz="2400" dirty="0">
              <a:latin typeface="Times New Roman"/>
              <a:ea typeface="Times New Roman"/>
              <a:cs typeface="Times New Roman"/>
              <a:sym typeface="Times New Roman"/>
            </a:endParaRPr>
          </a:p>
          <a:p>
            <a:pPr marL="457200" lvl="0" indent="0" algn="l" rtl="0">
              <a:lnSpc>
                <a:spcPct val="70000"/>
              </a:lnSpc>
              <a:spcBef>
                <a:spcPts val="0"/>
              </a:spcBef>
              <a:spcAft>
                <a:spcPts val="0"/>
              </a:spcAft>
              <a:buSzPts val="1800"/>
              <a:buNone/>
            </a:pPr>
            <a:endParaRPr sz="2000" b="1" dirty="0">
              <a:latin typeface="Arial"/>
              <a:ea typeface="Arial"/>
              <a:cs typeface="Arial"/>
              <a:sym typeface="Arial"/>
            </a:endParaRPr>
          </a:p>
          <a:p>
            <a:pPr marL="457200" lvl="0" indent="0" algn="l" rtl="0">
              <a:lnSpc>
                <a:spcPct val="70000"/>
              </a:lnSpc>
              <a:spcBef>
                <a:spcPts val="0"/>
              </a:spcBef>
              <a:spcAft>
                <a:spcPts val="0"/>
              </a:spcAft>
              <a:buSzPts val="1800"/>
              <a:buNone/>
            </a:pPr>
            <a:endParaRPr sz="5100" b="1" dirty="0">
              <a:latin typeface="Times New Roman"/>
              <a:ea typeface="Times New Roman"/>
              <a:cs typeface="Times New Roman"/>
              <a:sym typeface="Times New Roman"/>
            </a:endParaRPr>
          </a:p>
          <a:p>
            <a:pPr marL="457200" lvl="0" indent="0" algn="l" rtl="0">
              <a:lnSpc>
                <a:spcPct val="90000"/>
              </a:lnSpc>
              <a:spcBef>
                <a:spcPts val="0"/>
              </a:spcBef>
              <a:spcAft>
                <a:spcPts val="0"/>
              </a:spcAft>
              <a:buSzPts val="1800"/>
              <a:buNone/>
            </a:pPr>
            <a:endParaRPr sz="3800" dirty="0">
              <a:latin typeface="Times New Roman"/>
              <a:ea typeface="Times New Roman"/>
              <a:cs typeface="Times New Roman"/>
              <a:sym typeface="Times New Roman"/>
            </a:endParaRPr>
          </a:p>
          <a:p>
            <a:pPr marL="571500" lvl="0" indent="0" algn="l" rtl="0">
              <a:lnSpc>
                <a:spcPct val="90000"/>
              </a:lnSpc>
              <a:spcBef>
                <a:spcPts val="1000"/>
              </a:spcBef>
              <a:spcAft>
                <a:spcPts val="0"/>
              </a:spcAft>
              <a:buSzPts val="2880"/>
              <a:buNone/>
            </a:pPr>
            <a:endParaRPr sz="4350"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61" name="Google Shape;16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3"/>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rgbClr val="2F5496"/>
              </a:buClr>
              <a:buSzPts val="3200"/>
              <a:buFont typeface="Times New Roman"/>
              <a:buNone/>
            </a:pPr>
            <a:r>
              <a:rPr lang="en-US" sz="3250" b="1">
                <a:solidFill>
                  <a:srgbClr val="2F5496"/>
                </a:solidFill>
                <a:latin typeface="Times New Roman"/>
                <a:ea typeface="Times New Roman"/>
                <a:cs typeface="Times New Roman"/>
                <a:sym typeface="Times New Roman"/>
              </a:rPr>
              <a:t>Advantages of Proposed System</a:t>
            </a:r>
            <a:endParaRPr sz="3250"/>
          </a:p>
        </p:txBody>
      </p:sp>
      <p:sp>
        <p:nvSpPr>
          <p:cNvPr id="167" name="Google Shape;167;p1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Improved Data Quality:</a:t>
            </a:r>
            <a:r>
              <a:rPr lang="en-US" altLang="en-US" sz="2400" dirty="0">
                <a:solidFill>
                  <a:schemeClr val="tx1"/>
                </a:solidFill>
                <a:latin typeface="Times New Roman" panose="02020603050405020304" pitchFamily="18" charset="0"/>
                <a:cs typeface="Times New Roman" panose="02020603050405020304" pitchFamily="18" charset="0"/>
              </a:rPr>
              <a:t> Cleans missing, duplicate, and inconsistent data for accurate analysis.</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Better Insights:</a:t>
            </a:r>
            <a:r>
              <a:rPr lang="en-US" altLang="en-US" sz="2400" dirty="0">
                <a:solidFill>
                  <a:schemeClr val="tx1"/>
                </a:solidFill>
                <a:latin typeface="Times New Roman" panose="02020603050405020304" pitchFamily="18" charset="0"/>
                <a:cs typeface="Times New Roman" panose="02020603050405020304" pitchFamily="18" charset="0"/>
              </a:rPr>
              <a:t> Identifies peak hours, demand trends, and ride patterns clearly.</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Efficient Processing:</a:t>
            </a:r>
            <a:r>
              <a:rPr lang="en-US" altLang="en-US" sz="2400" dirty="0">
                <a:solidFill>
                  <a:schemeClr val="tx1"/>
                </a:solidFill>
                <a:latin typeface="Times New Roman" panose="02020603050405020304" pitchFamily="18" charset="0"/>
                <a:cs typeface="Times New Roman" panose="02020603050405020304" pitchFamily="18" charset="0"/>
              </a:rPr>
              <a:t> Structured ETL pipeline using Pandas enables faster data handling.</a:t>
            </a:r>
          </a:p>
          <a:p>
            <a:pPr marL="514350" lvl="0" indent="-514350" algn="just" eaLnBrk="0" fontAlgn="base" hangingPunct="0">
              <a:lnSpc>
                <a:spcPct val="100000"/>
              </a:lnSpc>
              <a:spcBef>
                <a:spcPct val="0"/>
              </a:spcBef>
              <a:spcAft>
                <a:spcPct val="0"/>
              </a:spcAft>
              <a:buClrTx/>
              <a:buSz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Clear Visualization:</a:t>
            </a:r>
            <a:r>
              <a:rPr lang="en-US" altLang="en-US" sz="2400" dirty="0">
                <a:solidFill>
                  <a:schemeClr val="tx1"/>
                </a:solidFill>
                <a:latin typeface="Times New Roman" panose="02020603050405020304" pitchFamily="18" charset="0"/>
                <a:cs typeface="Times New Roman" panose="02020603050405020304" pitchFamily="18" charset="0"/>
              </a:rPr>
              <a:t> Graphs using Matplotlib and Seaborn make insights easy to understand. </a:t>
            </a:r>
          </a:p>
          <a:p>
            <a:pPr marL="228600" lvl="0" indent="-64135"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168" name="Google Shape;16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p:nvPr/>
        </p:nvSpPr>
        <p:spPr>
          <a:xfrm>
            <a:off x="1061431" y="371240"/>
            <a:ext cx="10515600" cy="596400"/>
          </a:xfrm>
          <a:prstGeom prst="rect">
            <a:avLst/>
          </a:prstGeom>
          <a:noFill/>
          <a:ln>
            <a:noFill/>
          </a:ln>
        </p:spPr>
        <p:txBody>
          <a:bodyPr spcFirstLastPara="1" wrap="square" lIns="91425" tIns="45700" rIns="91425" bIns="45700" anchor="ctr" anchorCtr="0">
            <a:normAutofit/>
          </a:bodyPr>
          <a:lstStyle/>
          <a:p>
            <a:pPr marL="0" marR="0" lvl="0" indent="0" rtl="0">
              <a:spcBef>
                <a:spcPts val="0"/>
              </a:spcBef>
              <a:spcAft>
                <a:spcPts val="0"/>
              </a:spcAft>
              <a:buClr>
                <a:srgbClr val="000000"/>
              </a:buClr>
              <a:buSzPts val="3250"/>
              <a:buFont typeface="Arial"/>
              <a:buNone/>
            </a:pPr>
            <a:r>
              <a:rPr lang="en-US" sz="3250" b="1" i="0" u="none" strike="noStrike" cap="none">
                <a:solidFill>
                  <a:srgbClr val="2F5496"/>
                </a:solidFill>
                <a:latin typeface="Times New Roman"/>
                <a:ea typeface="Times New Roman"/>
                <a:cs typeface="Times New Roman"/>
                <a:sym typeface="Times New Roman"/>
              </a:rPr>
              <a:t>Review Timeline:</a:t>
            </a:r>
            <a:endParaRPr sz="3250" b="0" i="0" u="none" strike="noStrike" cap="none">
              <a:solidFill>
                <a:srgbClr val="2F5496"/>
              </a:solidFill>
              <a:latin typeface="Calibri"/>
              <a:ea typeface="Calibri"/>
              <a:cs typeface="Calibri"/>
              <a:sym typeface="Calibri"/>
            </a:endParaRPr>
          </a:p>
        </p:txBody>
      </p:sp>
      <p:sp>
        <p:nvSpPr>
          <p:cNvPr id="174" name="Google Shape;174;p15"/>
          <p:cNvSpPr txBox="1"/>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Calibri"/>
                <a:ea typeface="Calibri"/>
                <a:cs typeface="Calibri"/>
                <a:sym typeface="Calibri"/>
              </a:rPr>
              <a:t>13</a:t>
            </a:fld>
            <a:endParaRPr sz="1200" b="0" i="0" u="none" strike="noStrike" cap="none">
              <a:solidFill>
                <a:srgbClr val="FFFFFF"/>
              </a:solidFill>
              <a:latin typeface="Calibri"/>
              <a:ea typeface="Calibri"/>
              <a:cs typeface="Calibri"/>
              <a:sym typeface="Calibri"/>
            </a:endParaRPr>
          </a:p>
        </p:txBody>
      </p:sp>
      <p:grpSp>
        <p:nvGrpSpPr>
          <p:cNvPr id="175" name="Google Shape;175;p15"/>
          <p:cNvGrpSpPr/>
          <p:nvPr/>
        </p:nvGrpSpPr>
        <p:grpSpPr>
          <a:xfrm>
            <a:off x="1193055" y="1210500"/>
            <a:ext cx="9237706" cy="4573643"/>
            <a:chOff x="2063594" y="0"/>
            <a:chExt cx="6388455" cy="4058246"/>
          </a:xfrm>
        </p:grpSpPr>
        <p:sp>
          <p:nvSpPr>
            <p:cNvPr id="176" name="Google Shape;176;p15"/>
            <p:cNvSpPr/>
            <p:nvPr/>
          </p:nvSpPr>
          <p:spPr>
            <a:xfrm>
              <a:off x="7173684" y="811638"/>
              <a:ext cx="1278300" cy="3246600"/>
            </a:xfrm>
            <a:prstGeom prst="wedgeRectCallout">
              <a:avLst>
                <a:gd name="adj1" fmla="val 0"/>
                <a:gd name="adj2" fmla="val 0"/>
              </a:avLst>
            </a:prstGeom>
            <a:solidFill>
              <a:srgbClr val="BFC8E3"/>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5"/>
            <p:cNvSpPr txBox="1"/>
            <p:nvPr/>
          </p:nvSpPr>
          <p:spPr>
            <a:xfrm>
              <a:off x="7336049" y="811646"/>
              <a:ext cx="1116000" cy="3246600"/>
            </a:xfrm>
            <a:prstGeom prst="rect">
              <a:avLst/>
            </a:prstGeom>
            <a:noFill/>
            <a:ln>
              <a:noFill/>
            </a:ln>
          </p:spPr>
          <p:txBody>
            <a:bodyPr spcFirstLastPara="1" wrap="square" lIns="44450" tIns="44450" rIns="44450" bIns="44450" anchor="t" anchorCtr="0">
              <a:noAutofit/>
            </a:bodyPr>
            <a:lstStyle/>
            <a:p>
              <a:pPr marL="0" marR="0" lvl="0" indent="0" algn="ctr" rtl="0">
                <a:spcBef>
                  <a:spcPts val="0"/>
                </a:spcBef>
                <a:spcAft>
                  <a:spcPts val="0"/>
                </a:spcAft>
                <a:buClr>
                  <a:srgbClr val="000000"/>
                </a:buClr>
                <a:buSzPts val="1400"/>
                <a:buFont typeface="Calibri"/>
                <a:buNone/>
              </a:pPr>
              <a:r>
                <a:rPr lang="en-US" sz="1600" b="0" i="0" u="none" strike="noStrike" cap="none" dirty="0">
                  <a:solidFill>
                    <a:srgbClr val="000000"/>
                  </a:solidFill>
                  <a:latin typeface="Times New Roman"/>
                  <a:ea typeface="Times New Roman"/>
                  <a:cs typeface="Times New Roman"/>
                  <a:sym typeface="Times New Roman"/>
                </a:rPr>
                <a:t>Submission of report and final</a:t>
              </a:r>
              <a:endParaRPr sz="1600" b="0" i="0" u="none" strike="noStrike" cap="none" dirty="0">
                <a:solidFill>
                  <a:srgbClr val="000000"/>
                </a:solidFill>
                <a:latin typeface="Times New Roman"/>
                <a:ea typeface="Times New Roman"/>
                <a:cs typeface="Times New Roman"/>
                <a:sym typeface="Times New Roman"/>
              </a:endParaRPr>
            </a:p>
            <a:p>
              <a:pPr marL="0" marR="0" lvl="0" indent="0" algn="ctr" rtl="0">
                <a:spcBef>
                  <a:spcPts val="490"/>
                </a:spcBef>
                <a:spcAft>
                  <a:spcPts val="0"/>
                </a:spcAft>
                <a:buClr>
                  <a:srgbClr val="000000"/>
                </a:buClr>
                <a:buSzPts val="1400"/>
                <a:buFont typeface="Calibri"/>
                <a:buNone/>
              </a:pPr>
              <a:r>
                <a:rPr lang="en-US" sz="1600" b="0" i="0" u="none" strike="noStrike" cap="none" dirty="0">
                  <a:solidFill>
                    <a:srgbClr val="000000"/>
                  </a:solidFill>
                  <a:latin typeface="Times New Roman"/>
                  <a:ea typeface="Times New Roman"/>
                  <a:cs typeface="Times New Roman"/>
                  <a:sym typeface="Times New Roman"/>
                </a:rPr>
                <a:t>Presentation</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490"/>
                </a:spcBef>
                <a:spcAft>
                  <a:spcPts val="0"/>
                </a:spcAft>
                <a:buClr>
                  <a:srgbClr val="000000"/>
                </a:buClr>
                <a:buSzPts val="1400"/>
                <a:buFont typeface="Calibri"/>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rgbClr val="000000"/>
                </a:buClr>
                <a:buSzPts val="1400"/>
                <a:buFont typeface="Calibri"/>
                <a:buNone/>
              </a:pPr>
              <a:endParaRPr sz="1600" b="1" dirty="0">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rgbClr val="000000"/>
                </a:buClr>
                <a:buSzPts val="1400"/>
                <a:buFont typeface="Calibri"/>
                <a:buNone/>
              </a:pPr>
              <a:r>
                <a:rPr lang="en-US" sz="1600" b="1" i="0" u="none" strike="noStrike" cap="none" dirty="0">
                  <a:solidFill>
                    <a:srgbClr val="000000"/>
                  </a:solidFill>
                  <a:latin typeface="Times New Roman"/>
                  <a:ea typeface="Times New Roman"/>
                  <a:cs typeface="Times New Roman"/>
                  <a:sym typeface="Times New Roman"/>
                </a:rPr>
                <a:t>22/04/26</a:t>
              </a:r>
              <a:endParaRPr sz="1600" b="1"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490"/>
                </a:spcBef>
                <a:spcAft>
                  <a:spcPts val="0"/>
                </a:spcAft>
                <a:buClr>
                  <a:srgbClr val="000000"/>
                </a:buClr>
                <a:buSzPts val="1400"/>
                <a:buFont typeface="Calibri"/>
                <a:buNone/>
              </a:pPr>
              <a:endParaRPr sz="1400" b="0" i="0" u="none" strike="noStrike" cap="none" dirty="0">
                <a:solidFill>
                  <a:srgbClr val="000000"/>
                </a:solidFill>
                <a:latin typeface="Calibri"/>
                <a:ea typeface="Calibri"/>
                <a:cs typeface="Calibri"/>
                <a:sym typeface="Calibri"/>
              </a:endParaRPr>
            </a:p>
          </p:txBody>
        </p:sp>
        <p:sp>
          <p:nvSpPr>
            <p:cNvPr id="178" name="Google Shape;178;p15"/>
            <p:cNvSpPr/>
            <p:nvPr/>
          </p:nvSpPr>
          <p:spPr>
            <a:xfrm>
              <a:off x="7173684" y="0"/>
              <a:ext cx="1278300" cy="811500"/>
            </a:xfrm>
            <a:prstGeom prst="rect">
              <a:avLst/>
            </a:prstGeom>
            <a:solidFill>
              <a:srgbClr val="ED7D31"/>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5"/>
            <p:cNvSpPr txBox="1"/>
            <p:nvPr/>
          </p:nvSpPr>
          <p:spPr>
            <a:xfrm>
              <a:off x="7173684" y="0"/>
              <a:ext cx="1278300" cy="8115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Final Review</a:t>
              </a:r>
              <a:endParaRPr sz="1400" b="0" i="0" u="none" strike="noStrike" cap="none">
                <a:solidFill>
                  <a:srgbClr val="000000"/>
                </a:solidFill>
                <a:latin typeface="Arial"/>
                <a:ea typeface="Arial"/>
                <a:cs typeface="Arial"/>
                <a:sym typeface="Arial"/>
              </a:endParaRPr>
            </a:p>
          </p:txBody>
        </p:sp>
        <p:sp>
          <p:nvSpPr>
            <p:cNvPr id="180" name="Google Shape;180;p15"/>
            <p:cNvSpPr/>
            <p:nvPr/>
          </p:nvSpPr>
          <p:spPr>
            <a:xfrm>
              <a:off x="5898557" y="811638"/>
              <a:ext cx="1278300" cy="3043500"/>
            </a:xfrm>
            <a:prstGeom prst="wedgeRectCallout">
              <a:avLst>
                <a:gd name="adj1" fmla="val 62500"/>
                <a:gd name="adj2" fmla="val 20830"/>
              </a:avLst>
            </a:prstGeom>
            <a:solidFill>
              <a:srgbClr val="C6EAE6"/>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5"/>
            <p:cNvSpPr txBox="1"/>
            <p:nvPr/>
          </p:nvSpPr>
          <p:spPr>
            <a:xfrm>
              <a:off x="5978086" y="811638"/>
              <a:ext cx="1116000" cy="30435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dirty="0">
                <a:solidFill>
                  <a:schemeClr val="dk1"/>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r>
                <a:rPr lang="en-US" sz="1600" b="1" i="0" u="none" strike="noStrike" cap="none" dirty="0">
                  <a:solidFill>
                    <a:srgbClr val="000000"/>
                  </a:solidFill>
                  <a:latin typeface="Times New Roman"/>
                  <a:ea typeface="Times New Roman"/>
                  <a:cs typeface="Times New Roman"/>
                  <a:sym typeface="Times New Roman"/>
                </a:rPr>
                <a:t>0</a:t>
              </a:r>
              <a:r>
                <a:rPr lang="en-US" sz="1600" b="1" dirty="0">
                  <a:latin typeface="Times New Roman"/>
                  <a:ea typeface="Times New Roman"/>
                  <a:cs typeface="Times New Roman"/>
                  <a:sym typeface="Times New Roman"/>
                </a:rPr>
                <a:t>7</a:t>
              </a:r>
              <a:r>
                <a:rPr lang="en-US" sz="1600" b="1" i="0" u="none" strike="noStrike" cap="none" dirty="0">
                  <a:solidFill>
                    <a:srgbClr val="000000"/>
                  </a:solidFill>
                  <a:latin typeface="Times New Roman"/>
                  <a:ea typeface="Times New Roman"/>
                  <a:cs typeface="Times New Roman"/>
                  <a:sym typeface="Times New Roman"/>
                </a:rPr>
                <a:t>/04/26</a:t>
              </a:r>
              <a:endParaRPr sz="1400" b="1" i="0" u="none" strike="noStrike" cap="none" dirty="0">
                <a:solidFill>
                  <a:srgbClr val="000000"/>
                </a:solidFill>
                <a:latin typeface="Arial"/>
                <a:ea typeface="Arial"/>
                <a:cs typeface="Arial"/>
                <a:sym typeface="Arial"/>
              </a:endParaRPr>
            </a:p>
          </p:txBody>
        </p:sp>
        <p:sp>
          <p:nvSpPr>
            <p:cNvPr id="182" name="Google Shape;182;p15"/>
            <p:cNvSpPr/>
            <p:nvPr/>
          </p:nvSpPr>
          <p:spPr>
            <a:xfrm>
              <a:off x="5898557" y="101454"/>
              <a:ext cx="1278300" cy="710100"/>
            </a:xfrm>
            <a:prstGeom prst="rect">
              <a:avLst/>
            </a:prstGeom>
            <a:solidFill>
              <a:srgbClr val="A5A5A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5"/>
            <p:cNvSpPr txBox="1"/>
            <p:nvPr/>
          </p:nvSpPr>
          <p:spPr>
            <a:xfrm>
              <a:off x="5898557" y="101454"/>
              <a:ext cx="1278300" cy="7101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4</a:t>
              </a:r>
              <a:endParaRPr sz="1400" b="0" i="0" u="none" strike="noStrike" cap="none">
                <a:solidFill>
                  <a:srgbClr val="000000"/>
                </a:solidFill>
                <a:latin typeface="Arial"/>
                <a:ea typeface="Arial"/>
                <a:cs typeface="Arial"/>
                <a:sym typeface="Arial"/>
              </a:endParaRPr>
            </a:p>
          </p:txBody>
        </p:sp>
        <p:sp>
          <p:nvSpPr>
            <p:cNvPr id="184" name="Google Shape;184;p15"/>
            <p:cNvSpPr/>
            <p:nvPr/>
          </p:nvSpPr>
          <p:spPr>
            <a:xfrm>
              <a:off x="4620236" y="811638"/>
              <a:ext cx="1278300" cy="2840700"/>
            </a:xfrm>
            <a:prstGeom prst="wedgeRectCallout">
              <a:avLst>
                <a:gd name="adj1" fmla="val 62500"/>
                <a:gd name="adj2" fmla="val 20830"/>
              </a:avLst>
            </a:prstGeom>
            <a:solidFill>
              <a:srgbClr val="CFF1CF"/>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5"/>
            <p:cNvSpPr txBox="1"/>
            <p:nvPr/>
          </p:nvSpPr>
          <p:spPr>
            <a:xfrm>
              <a:off x="4701364" y="811638"/>
              <a:ext cx="1116000" cy="28407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04/03/26</a:t>
              </a:r>
              <a:endParaRPr sz="1600" dirty="0">
                <a:solidFill>
                  <a:schemeClr val="dk1"/>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1600"/>
                <a:buFont typeface="Times New Roman"/>
                <a:buNone/>
              </a:pPr>
              <a:endParaRPr sz="1600" dirty="0">
                <a:solidFill>
                  <a:schemeClr val="dk1"/>
                </a:solidFill>
                <a:latin typeface="Times New Roman"/>
                <a:ea typeface="Times New Roman"/>
                <a:cs typeface="Times New Roman"/>
                <a:sym typeface="Times New Roman"/>
              </a:endParaRPr>
            </a:p>
          </p:txBody>
        </p:sp>
        <p:sp>
          <p:nvSpPr>
            <p:cNvPr id="186" name="Google Shape;186;p15"/>
            <p:cNvSpPr/>
            <p:nvPr/>
          </p:nvSpPr>
          <p:spPr>
            <a:xfrm>
              <a:off x="4620236" y="206156"/>
              <a:ext cx="1278300" cy="608700"/>
            </a:xfrm>
            <a:prstGeom prst="rect">
              <a:avLst/>
            </a:prstGeom>
            <a:solidFill>
              <a:srgbClr val="FFC00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5"/>
            <p:cNvSpPr txBox="1"/>
            <p:nvPr/>
          </p:nvSpPr>
          <p:spPr>
            <a:xfrm>
              <a:off x="4620236" y="206156"/>
              <a:ext cx="1278300" cy="6087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3</a:t>
              </a:r>
              <a:endParaRPr sz="1400" b="0" i="0" u="none" strike="noStrike" cap="none">
                <a:solidFill>
                  <a:srgbClr val="000000"/>
                </a:solidFill>
                <a:latin typeface="Arial"/>
                <a:ea typeface="Arial"/>
                <a:cs typeface="Arial"/>
                <a:sym typeface="Arial"/>
              </a:endParaRPr>
            </a:p>
          </p:txBody>
        </p:sp>
        <p:sp>
          <p:nvSpPr>
            <p:cNvPr id="188" name="Google Shape;188;p15"/>
            <p:cNvSpPr/>
            <p:nvPr/>
          </p:nvSpPr>
          <p:spPr>
            <a:xfrm>
              <a:off x="3341915" y="811638"/>
              <a:ext cx="1278300" cy="2637900"/>
            </a:xfrm>
            <a:prstGeom prst="wedgeRectCallout">
              <a:avLst>
                <a:gd name="adj1" fmla="val 62500"/>
                <a:gd name="adj2" fmla="val 20830"/>
              </a:avLst>
            </a:prstGeom>
            <a:solidFill>
              <a:srgbClr val="F4F6D9"/>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5"/>
            <p:cNvSpPr txBox="1"/>
            <p:nvPr/>
          </p:nvSpPr>
          <p:spPr>
            <a:xfrm>
              <a:off x="3426211" y="811646"/>
              <a:ext cx="1194000" cy="2637900"/>
            </a:xfrm>
            <a:prstGeom prst="rect">
              <a:avLst/>
            </a:prstGeom>
            <a:noFill/>
            <a:ln>
              <a:noFill/>
            </a:ln>
          </p:spPr>
          <p:txBody>
            <a:bodyPr spcFirstLastPara="1" wrap="square" lIns="50800" tIns="50800" rIns="50800" bIns="50800" anchor="t" anchorCtr="0">
              <a:noAutofit/>
            </a:bodyPr>
            <a:lstStyle/>
            <a:p>
              <a:pPr marL="0" lvl="0" indent="0" algn="ctr" rtl="0">
                <a:spcBef>
                  <a:spcPts val="0"/>
                </a:spcBef>
                <a:spcAft>
                  <a:spcPts val="0"/>
                </a:spcAft>
                <a:buClr>
                  <a:schemeClr val="dk1"/>
                </a:buClr>
                <a:buSzPts val="1600"/>
                <a:buFont typeface="Times New Roman"/>
                <a:buNone/>
              </a:pPr>
              <a:r>
                <a:rPr lang="en-US" sz="1600" dirty="0">
                  <a:solidFill>
                    <a:schemeClr val="dk1"/>
                  </a:solidFill>
                  <a:latin typeface="Times New Roman"/>
                  <a:ea typeface="Times New Roman"/>
                  <a:cs typeface="Times New Roman"/>
                  <a:sym typeface="Times New Roman"/>
                </a:rPr>
                <a:t>Briefing the problem statement and workflow timeline.</a:t>
              </a: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r>
                <a:rPr lang="en-US" sz="1600" b="1" i="0" u="none" strike="noStrike" cap="none" dirty="0">
                  <a:solidFill>
                    <a:srgbClr val="000000"/>
                  </a:solidFill>
                  <a:latin typeface="Times New Roman"/>
                  <a:ea typeface="Times New Roman"/>
                  <a:cs typeface="Times New Roman"/>
                  <a:sym typeface="Times New Roman"/>
                </a:rPr>
                <a:t>31/01/26</a:t>
              </a:r>
              <a:endParaRPr sz="1400" b="1" i="0" u="none" strike="noStrike" cap="none" dirty="0">
                <a:solidFill>
                  <a:srgbClr val="000000"/>
                </a:solidFill>
                <a:latin typeface="Arial"/>
                <a:ea typeface="Arial"/>
                <a:cs typeface="Arial"/>
                <a:sym typeface="Arial"/>
              </a:endParaRPr>
            </a:p>
          </p:txBody>
        </p:sp>
        <p:sp>
          <p:nvSpPr>
            <p:cNvPr id="190" name="Google Shape;190;p15"/>
            <p:cNvSpPr/>
            <p:nvPr/>
          </p:nvSpPr>
          <p:spPr>
            <a:xfrm>
              <a:off x="3341915" y="304364"/>
              <a:ext cx="1278300" cy="507300"/>
            </a:xfrm>
            <a:prstGeom prst="rect">
              <a:avLst/>
            </a:prstGeom>
            <a:solidFill>
              <a:srgbClr val="599B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5"/>
            <p:cNvSpPr txBox="1"/>
            <p:nvPr/>
          </p:nvSpPr>
          <p:spPr>
            <a:xfrm>
              <a:off x="3341915" y="304364"/>
              <a:ext cx="1278300" cy="5073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2</a:t>
              </a:r>
              <a:endParaRPr sz="1400" b="0" i="0" u="none" strike="noStrike" cap="none">
                <a:solidFill>
                  <a:srgbClr val="000000"/>
                </a:solidFill>
                <a:latin typeface="Arial"/>
                <a:ea typeface="Arial"/>
                <a:cs typeface="Arial"/>
                <a:sym typeface="Arial"/>
              </a:endParaRPr>
            </a:p>
          </p:txBody>
        </p:sp>
        <p:sp>
          <p:nvSpPr>
            <p:cNvPr id="192" name="Google Shape;192;p15"/>
            <p:cNvSpPr/>
            <p:nvPr/>
          </p:nvSpPr>
          <p:spPr>
            <a:xfrm>
              <a:off x="2063594" y="811638"/>
              <a:ext cx="1278300" cy="2434800"/>
            </a:xfrm>
            <a:prstGeom prst="wedgeRectCallout">
              <a:avLst>
                <a:gd name="adj1" fmla="val 62500"/>
                <a:gd name="adj2" fmla="val 20830"/>
              </a:avLst>
            </a:prstGeom>
            <a:solidFill>
              <a:srgbClr val="FAEAE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5"/>
            <p:cNvSpPr txBox="1"/>
            <p:nvPr/>
          </p:nvSpPr>
          <p:spPr>
            <a:xfrm>
              <a:off x="2144722" y="811638"/>
              <a:ext cx="1116000" cy="2434800"/>
            </a:xfrm>
            <a:prstGeom prst="rect">
              <a:avLst/>
            </a:prstGeom>
            <a:noFill/>
            <a:ln>
              <a:noFill/>
            </a:ln>
          </p:spPr>
          <p:txBody>
            <a:bodyPr spcFirstLastPara="1" wrap="square" lIns="50800" tIns="50800" rIns="50800" bIns="50800" anchor="t" anchorCtr="0">
              <a:noAutofit/>
            </a:bodyPr>
            <a:lstStyle/>
            <a:p>
              <a:pPr marL="0" marR="0" lvl="0" indent="0" algn="ctr" rtl="0">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Overview of the company and role and briefing the problem statement and workflow timeline.</a:t>
              </a: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algn="just">
                <a:lnSpc>
                  <a:spcPct val="90000"/>
                </a:lnSpc>
                <a:spcBef>
                  <a:spcPts val="560"/>
                </a:spcBef>
                <a:buSzPts val="1600"/>
              </a:pPr>
              <a:r>
                <a:rPr lang="en-US" sz="1600" b="1" dirty="0">
                  <a:latin typeface="Times New Roman"/>
                  <a:ea typeface="Times New Roman"/>
                  <a:cs typeface="Times New Roman"/>
                  <a:sym typeface="Times New Roman"/>
                </a:rPr>
                <a:t>23/01/26</a:t>
              </a:r>
              <a:endParaRPr lang="en-US" b="1" dirty="0">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rgbClr val="000000"/>
                </a:buClr>
                <a:buSzPts val="1600"/>
                <a:buFont typeface="Times New Roman"/>
                <a:buNone/>
              </a:pPr>
              <a:endParaRPr sz="1600" b="1" i="0" u="none" strike="noStrike" cap="none" dirty="0">
                <a:solidFill>
                  <a:srgbClr val="000000"/>
                </a:solidFill>
                <a:latin typeface="Times New Roman"/>
                <a:ea typeface="Times New Roman"/>
                <a:cs typeface="Times New Roman"/>
                <a:sym typeface="Times New Roman"/>
              </a:endParaRPr>
            </a:p>
          </p:txBody>
        </p:sp>
        <p:sp>
          <p:nvSpPr>
            <p:cNvPr id="194" name="Google Shape;194;p15"/>
            <p:cNvSpPr/>
            <p:nvPr/>
          </p:nvSpPr>
          <p:spPr>
            <a:xfrm>
              <a:off x="2063594" y="405819"/>
              <a:ext cx="1278300" cy="405900"/>
            </a:xfrm>
            <a:prstGeom prst="rect">
              <a:avLst/>
            </a:prstGeom>
            <a:solidFill>
              <a:srgbClr val="70AD47"/>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5"/>
            <p:cNvSpPr txBox="1"/>
            <p:nvPr/>
          </p:nvSpPr>
          <p:spPr>
            <a:xfrm>
              <a:off x="2063594" y="405819"/>
              <a:ext cx="1278300" cy="4059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rgbClr val="FFFFFF"/>
                </a:buClr>
                <a:buSzPts val="2000"/>
                <a:buFont typeface="Times New Roman"/>
                <a:buNone/>
              </a:pPr>
              <a:r>
                <a:rPr lang="en-US" sz="2000" b="0" i="0" u="none" strike="noStrike" cap="none">
                  <a:solidFill>
                    <a:srgbClr val="FFFFFF"/>
                  </a:solidFill>
                  <a:latin typeface="Times New Roman"/>
                  <a:ea typeface="Times New Roman"/>
                  <a:cs typeface="Times New Roman"/>
                  <a:sym typeface="Times New Roman"/>
                </a:rPr>
                <a:t>Review 1</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4"/>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Times New Roman"/>
              <a:buNone/>
            </a:pPr>
            <a:r>
              <a:rPr lang="en-US" sz="3200" b="1">
                <a:solidFill>
                  <a:srgbClr val="0070C0"/>
                </a:solidFill>
                <a:latin typeface="Times New Roman"/>
                <a:ea typeface="Times New Roman"/>
                <a:cs typeface="Times New Roman"/>
                <a:sym typeface="Times New Roman"/>
              </a:rPr>
              <a:t>Github Link</a:t>
            </a:r>
            <a:endParaRPr/>
          </a:p>
        </p:txBody>
      </p:sp>
      <p:sp>
        <p:nvSpPr>
          <p:cNvPr id="201" name="Google Shape;20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02" name="Google Shape;202;p14"/>
          <p:cNvSpPr txBox="1">
            <a:spLocks noGrp="1"/>
          </p:cNvSpPr>
          <p:nvPr>
            <p:ph type="body" idx="1"/>
          </p:nvPr>
        </p:nvSpPr>
        <p:spPr>
          <a:xfrm>
            <a:off x="446308" y="1061297"/>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u="sng">
                <a:solidFill>
                  <a:schemeClr val="hlink"/>
                </a:solidFill>
                <a:hlinkClick r:id="rId3"/>
              </a:rPr>
              <a:t>https://github.com/Jilpha</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a:ea typeface="Times New Roman"/>
                <a:cs typeface="Times New Roman"/>
                <a:sym typeface="Times New Roman"/>
              </a:rPr>
              <a:t>Thank you !!</a:t>
            </a:r>
            <a:endParaRPr/>
          </a:p>
        </p:txBody>
      </p:sp>
      <p:sp>
        <p:nvSpPr>
          <p:cNvPr id="208" name="Google Shape;20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a:ea typeface="Times New Roman"/>
                <a:cs typeface="Times New Roman"/>
                <a:sym typeface="Times New Roman"/>
              </a:rPr>
              <a:t>  </a:t>
            </a:r>
            <a:r>
              <a:rPr lang="en-US" sz="6600">
                <a:solidFill>
                  <a:srgbClr val="F7CAAC"/>
                </a:solidFill>
                <a:latin typeface="Times New Roman"/>
                <a:ea typeface="Times New Roman"/>
                <a:cs typeface="Times New Roman"/>
                <a:sym typeface="Times New Roman"/>
              </a:rPr>
              <a:t>Q&amp;A</a:t>
            </a:r>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a:ea typeface="Times New Roman"/>
              <a:cs typeface="Times New Roman"/>
              <a:sym typeface="Times New Roman"/>
            </a:endParaRPr>
          </a:p>
        </p:txBody>
      </p:sp>
      <p:sp>
        <p:nvSpPr>
          <p:cNvPr id="214" name="Google Shape;2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16</a:t>
            </a:fld>
            <a:endParaRPr>
              <a:latin typeface="Times New Roman"/>
              <a:ea typeface="Times New Roman"/>
              <a:cs typeface="Times New Roman"/>
              <a:sym typeface="Times New Roman"/>
            </a:endParaRPr>
          </a:p>
        </p:txBody>
      </p:sp>
      <p:pic>
        <p:nvPicPr>
          <p:cNvPr id="215" name="Google Shape;215;p16" descr="bd04924_"/>
          <p:cNvPicPr preferRelativeResize="0"/>
          <p:nvPr/>
        </p:nvPicPr>
        <p:blipFill rotWithShape="1">
          <a:blip r:embed="rId3">
            <a:alphaModFix/>
          </a:blip>
          <a:srcRect/>
          <a:stretch/>
        </p:blipFill>
        <p:spPr>
          <a:xfrm>
            <a:off x="5005253" y="2150340"/>
            <a:ext cx="2841170" cy="383241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838</Words>
  <Application>Microsoft Office PowerPoint</Application>
  <PresentationFormat>Widescreen</PresentationFormat>
  <Paragraphs>142</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Times New Roman</vt:lpstr>
      <vt:lpstr>Verdana</vt:lpstr>
      <vt:lpstr>Office Theme</vt:lpstr>
      <vt:lpstr>PowerPoint Presentation</vt:lpstr>
      <vt:lpstr>PowerPoint Presentation</vt:lpstr>
      <vt:lpstr>PowerPoint Presentation</vt:lpstr>
      <vt:lpstr>Clients and Industries</vt:lpstr>
      <vt:lpstr>Working domain </vt:lpstr>
      <vt:lpstr>About  team and reporting Manager</vt:lpstr>
      <vt:lpstr>Challenges Faced in Internship</vt:lpstr>
      <vt:lpstr>Objectives of the work</vt:lpstr>
      <vt:lpstr>Proposed System </vt:lpstr>
      <vt:lpstr>Problem Statement</vt:lpstr>
      <vt:lpstr>System Requirements</vt:lpstr>
      <vt:lpstr>Advantages of Proposed System</vt:lpstr>
      <vt:lpstr>PowerPoint Presentation</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Gopalakrishnan N-Asst. Prof-CIV</dc:creator>
  <cp:lastModifiedBy>priya jose</cp:lastModifiedBy>
  <cp:revision>5</cp:revision>
  <dcterms:created xsi:type="dcterms:W3CDTF">2022-10-14T07:18:17Z</dcterms:created>
  <dcterms:modified xsi:type="dcterms:W3CDTF">2026-04-22T14:41:42Z</dcterms:modified>
</cp:coreProperties>
</file>