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obo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e470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e47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bfb92380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bfb92380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fb92380e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fb92380e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fb92380e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fb92380e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fb92380e7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fb92380e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fb92380e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fb92380e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fb92380e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fb92380e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fb92380e7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bfb92380e7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bfb92380e7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bfb92380e7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fb92380e7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bfb92380e7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fb92380e7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bfb92380e7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fb92380e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bfb92380e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fb92380e7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bfb92380e7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fb92380e7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bfb92380e7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fb92380e7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bfb92380e7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bfb92380e7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bfb92380e7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bfb92380e7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bfb92380e7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bfb92380e7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bfb92380e7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bfb92380e7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bfb92380e7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fb92380e7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bfb92380e7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fb92380e7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fb92380e7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fb92380e7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bfb92380e7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fb92380e7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bfb92380e7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bfb92380e7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bfb92380e7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c6f9e470d_0_1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c6f9e470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1" Type="http://schemas.openxmlformats.org/officeDocument/2006/relationships/image" Target="../media/image8.jpg"/><Relationship Id="rId10" Type="http://schemas.openxmlformats.org/officeDocument/2006/relationships/image" Target="../media/image12.jpg"/><Relationship Id="rId13" Type="http://schemas.openxmlformats.org/officeDocument/2006/relationships/image" Target="../media/image13.jpg"/><Relationship Id="rId12" Type="http://schemas.openxmlformats.org/officeDocument/2006/relationships/image" Target="../media/image17.jpg"/><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9.jpg"/><Relationship Id="rId14" Type="http://schemas.openxmlformats.org/officeDocument/2006/relationships/image" Target="../media/image19.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7.jpg"/><Relationship Id="rId8"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6.jpg"/><Relationship Id="rId5" Type="http://schemas.openxmlformats.org/officeDocument/2006/relationships/image" Target="../media/image8.jpg"/><Relationship Id="rId6"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5.jpg"/><Relationship Id="rId5" Type="http://schemas.openxmlformats.org/officeDocument/2006/relationships/image" Target="../media/image7.jpg"/><Relationship Id="rId6"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12.jpg"/><Relationship Id="rId5"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13.jpg"/><Relationship Id="rId5"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51625" y="1529047"/>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t>IPL 2026 Dream Team Selection</a:t>
            </a:r>
            <a:endParaRPr b="1"/>
          </a:p>
        </p:txBody>
      </p:sp>
      <p:sp>
        <p:nvSpPr>
          <p:cNvPr id="86" name="Google Shape;86;p13"/>
          <p:cNvSpPr txBox="1"/>
          <p:nvPr>
            <p:ph idx="1" type="subTitle"/>
          </p:nvPr>
        </p:nvSpPr>
        <p:spPr>
          <a:xfrm>
            <a:off x="460938" y="2367838"/>
            <a:ext cx="8222100" cy="43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Team-2(CSK)</a:t>
            </a:r>
            <a:endParaRPr/>
          </a:p>
        </p:txBody>
      </p:sp>
      <p:sp>
        <p:nvSpPr>
          <p:cNvPr id="87" name="Google Shape;87;p13"/>
          <p:cNvSpPr txBox="1"/>
          <p:nvPr/>
        </p:nvSpPr>
        <p:spPr>
          <a:xfrm>
            <a:off x="6195525" y="2772575"/>
            <a:ext cx="2578200" cy="18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Team members:</a:t>
            </a:r>
            <a:endParaRPr b="1" sz="1800">
              <a:solidFill>
                <a:schemeClr val="lt1"/>
              </a:solidFill>
              <a:latin typeface="Roboto"/>
              <a:ea typeface="Roboto"/>
              <a:cs typeface="Roboto"/>
              <a:sym typeface="Roboto"/>
            </a:endParaRPr>
          </a:p>
          <a:p>
            <a:pPr indent="0" lvl="0" marL="0" rtl="0" algn="l">
              <a:spcBef>
                <a:spcPts val="0"/>
              </a:spcBef>
              <a:spcAft>
                <a:spcPts val="0"/>
              </a:spcAft>
              <a:buNone/>
            </a:pPr>
            <a:r>
              <a:rPr lang="en" sz="1300">
                <a:solidFill>
                  <a:schemeClr val="lt1"/>
                </a:solidFill>
                <a:latin typeface="Roboto"/>
                <a:ea typeface="Roboto"/>
                <a:cs typeface="Roboto"/>
                <a:sym typeface="Roboto"/>
              </a:rPr>
              <a:t>Chirag B A</a:t>
            </a:r>
            <a:endParaRPr sz="1300">
              <a:solidFill>
                <a:schemeClr val="lt1"/>
              </a:solidFill>
              <a:latin typeface="Roboto"/>
              <a:ea typeface="Roboto"/>
              <a:cs typeface="Roboto"/>
              <a:sym typeface="Roboto"/>
            </a:endParaRPr>
          </a:p>
          <a:p>
            <a:pPr indent="0" lvl="0" marL="0" rtl="0" algn="l">
              <a:spcBef>
                <a:spcPts val="0"/>
              </a:spcBef>
              <a:spcAft>
                <a:spcPts val="0"/>
              </a:spcAft>
              <a:buNone/>
            </a:pPr>
            <a:r>
              <a:rPr lang="en" sz="1300">
                <a:solidFill>
                  <a:schemeClr val="lt1"/>
                </a:solidFill>
                <a:latin typeface="Roboto"/>
                <a:ea typeface="Roboto"/>
                <a:cs typeface="Roboto"/>
                <a:sym typeface="Roboto"/>
              </a:rPr>
              <a:t>Jilpha Susmith</a:t>
            </a:r>
            <a:endParaRPr sz="1300">
              <a:solidFill>
                <a:schemeClr val="lt1"/>
              </a:solidFill>
              <a:latin typeface="Roboto"/>
              <a:ea typeface="Roboto"/>
              <a:cs typeface="Roboto"/>
              <a:sym typeface="Roboto"/>
            </a:endParaRPr>
          </a:p>
          <a:p>
            <a:pPr indent="0" lvl="0" marL="0" rtl="0" algn="l">
              <a:spcBef>
                <a:spcPts val="0"/>
              </a:spcBef>
              <a:spcAft>
                <a:spcPts val="0"/>
              </a:spcAft>
              <a:buNone/>
            </a:pPr>
            <a:r>
              <a:rPr lang="en" sz="1300">
                <a:solidFill>
                  <a:schemeClr val="lt1"/>
                </a:solidFill>
                <a:latin typeface="Roboto"/>
                <a:ea typeface="Roboto"/>
                <a:cs typeface="Roboto"/>
                <a:sym typeface="Roboto"/>
              </a:rPr>
              <a:t>K Prabhavathi </a:t>
            </a:r>
            <a:endParaRPr sz="1300">
              <a:solidFill>
                <a:schemeClr val="lt1"/>
              </a:solidFill>
              <a:latin typeface="Roboto"/>
              <a:ea typeface="Roboto"/>
              <a:cs typeface="Roboto"/>
              <a:sym typeface="Roboto"/>
            </a:endParaRPr>
          </a:p>
          <a:p>
            <a:pPr indent="0" lvl="0" marL="0" rtl="0" algn="l">
              <a:spcBef>
                <a:spcPts val="0"/>
              </a:spcBef>
              <a:spcAft>
                <a:spcPts val="0"/>
              </a:spcAft>
              <a:buNone/>
            </a:pPr>
            <a:r>
              <a:rPr lang="en" sz="1300">
                <a:solidFill>
                  <a:schemeClr val="lt1"/>
                </a:solidFill>
                <a:latin typeface="Roboto"/>
                <a:ea typeface="Roboto"/>
                <a:cs typeface="Roboto"/>
                <a:sym typeface="Roboto"/>
              </a:rPr>
              <a:t>Adduri Nikhil</a:t>
            </a:r>
            <a:endParaRPr sz="1300">
              <a:solidFill>
                <a:schemeClr val="lt1"/>
              </a:solidFill>
              <a:latin typeface="Roboto"/>
              <a:ea typeface="Roboto"/>
              <a:cs typeface="Roboto"/>
              <a:sym typeface="Roboto"/>
            </a:endParaRPr>
          </a:p>
          <a:p>
            <a:pPr indent="0" lvl="0" marL="0" rtl="0" algn="l">
              <a:spcBef>
                <a:spcPts val="0"/>
              </a:spcBef>
              <a:spcAft>
                <a:spcPts val="0"/>
              </a:spcAft>
              <a:buNone/>
            </a:pPr>
            <a:r>
              <a:rPr lang="en" sz="1300">
                <a:solidFill>
                  <a:schemeClr val="lt1"/>
                </a:solidFill>
                <a:latin typeface="Roboto"/>
                <a:ea typeface="Roboto"/>
                <a:cs typeface="Roboto"/>
                <a:sym typeface="Roboto"/>
              </a:rPr>
              <a:t>Sarva Vaishnavi</a:t>
            </a:r>
            <a:endParaRPr sz="1300">
              <a:solidFill>
                <a:schemeClr val="lt1"/>
              </a:solidFill>
              <a:latin typeface="Roboto"/>
              <a:ea typeface="Roboto"/>
              <a:cs typeface="Roboto"/>
              <a:sym typeface="Roboto"/>
            </a:endParaRPr>
          </a:p>
        </p:txBody>
      </p:sp>
      <p:pic>
        <p:nvPicPr>
          <p:cNvPr id="88" name="Google Shape;88;p13" title="1711089108-3549-removebg-preview.png"/>
          <p:cNvPicPr preferRelativeResize="0"/>
          <p:nvPr/>
        </p:nvPicPr>
        <p:blipFill>
          <a:blip r:embed="rId3">
            <a:alphaModFix/>
          </a:blip>
          <a:stretch>
            <a:fillRect/>
          </a:stretch>
        </p:blipFill>
        <p:spPr>
          <a:xfrm>
            <a:off x="-706424" y="2772575"/>
            <a:ext cx="4193224" cy="2361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Statement</a:t>
            </a:r>
            <a:endParaRPr/>
          </a:p>
        </p:txBody>
      </p:sp>
      <p:sp>
        <p:nvSpPr>
          <p:cNvPr id="94" name="Google Shape;94;p14"/>
          <p:cNvSpPr txBox="1"/>
          <p:nvPr/>
        </p:nvSpPr>
        <p:spPr>
          <a:xfrm>
            <a:off x="515825" y="1223250"/>
            <a:ext cx="8385600" cy="1569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800"/>
              <a:t>The franchise needs a data-backed method to build its IPL 2026 squad under budget and regulatory constraints. The challenge is to evaluate players across performance, cost efficiency, consistency, and pitch suitability to create the optimal squad and Playing XI that maximizes winning probability while maintaining a risk-mitigated and balanced team structure.</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Objective</a:t>
            </a:r>
            <a:endParaRPr/>
          </a:p>
        </p:txBody>
      </p:sp>
      <p:sp>
        <p:nvSpPr>
          <p:cNvPr id="100" name="Google Shape;100;p15"/>
          <p:cNvSpPr txBox="1"/>
          <p:nvPr>
            <p:ph idx="4294967295" type="body"/>
          </p:nvPr>
        </p:nvSpPr>
        <p:spPr>
          <a:xfrm>
            <a:off x="523050" y="1370625"/>
            <a:ext cx="7626900" cy="342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The primary objective is to construct a high-performing IPL 2026 squad that can consistently deliver winning outcomes. This involves</a:t>
            </a:r>
            <a:endParaRPr>
              <a:solidFill>
                <a:srgbClr val="000000"/>
              </a:solidFill>
            </a:endParaRPr>
          </a:p>
          <a:p>
            <a:pPr indent="-342900" lvl="0" marL="457200" rtl="0" algn="l">
              <a:spcBef>
                <a:spcPts val="1600"/>
              </a:spcBef>
              <a:spcAft>
                <a:spcPts val="0"/>
              </a:spcAft>
              <a:buClr>
                <a:srgbClr val="000000"/>
              </a:buClr>
              <a:buSzPts val="1800"/>
              <a:buAutoNum type="arabicPeriod"/>
            </a:pPr>
            <a:r>
              <a:rPr lang="en">
                <a:solidFill>
                  <a:srgbClr val="000000"/>
                </a:solidFill>
              </a:rPr>
              <a:t>Win IPL 2026 tournament</a:t>
            </a:r>
            <a:endParaRPr>
              <a:solidFill>
                <a:srgbClr val="000000"/>
              </a:solidFill>
            </a:endParaRPr>
          </a:p>
          <a:p>
            <a:pPr indent="-342900" lvl="0" marL="457200" rtl="0" algn="l">
              <a:spcBef>
                <a:spcPts val="0"/>
              </a:spcBef>
              <a:spcAft>
                <a:spcPts val="0"/>
              </a:spcAft>
              <a:buClr>
                <a:srgbClr val="000000"/>
              </a:buClr>
              <a:buSzPts val="1800"/>
              <a:buAutoNum type="arabicPeriod"/>
            </a:pPr>
            <a:r>
              <a:rPr lang="en">
                <a:solidFill>
                  <a:srgbClr val="000000"/>
                </a:solidFill>
              </a:rPr>
              <a:t>Maximizing home-ground success</a:t>
            </a:r>
            <a:endParaRPr>
              <a:solidFill>
                <a:srgbClr val="000000"/>
              </a:solidFill>
            </a:endParaRPr>
          </a:p>
          <a:p>
            <a:pPr indent="-342900" lvl="0" marL="457200" rtl="0" algn="l">
              <a:spcBef>
                <a:spcPts val="0"/>
              </a:spcBef>
              <a:spcAft>
                <a:spcPts val="0"/>
              </a:spcAft>
              <a:buClr>
                <a:srgbClr val="000000"/>
              </a:buClr>
              <a:buSzPts val="1800"/>
              <a:buAutoNum type="arabicPeriod"/>
            </a:pPr>
            <a:r>
              <a:rPr lang="en">
                <a:solidFill>
                  <a:srgbClr val="000000"/>
                </a:solidFill>
              </a:rPr>
              <a:t>Build strategically balanced and sustainable team composition</a:t>
            </a:r>
            <a:endParaRPr>
              <a:solidFill>
                <a:srgbClr val="000000"/>
              </a:solidFill>
            </a:endParaRPr>
          </a:p>
          <a:p>
            <a:pPr indent="-342900" lvl="0" marL="457200" rtl="0" algn="l">
              <a:spcBef>
                <a:spcPts val="0"/>
              </a:spcBef>
              <a:spcAft>
                <a:spcPts val="0"/>
              </a:spcAft>
              <a:buClr>
                <a:srgbClr val="000000"/>
              </a:buClr>
              <a:buSzPts val="1800"/>
              <a:buAutoNum type="arabicPeriod"/>
            </a:pPr>
            <a:r>
              <a:rPr lang="en">
                <a:solidFill>
                  <a:srgbClr val="000000"/>
                </a:solidFill>
              </a:rPr>
              <a:t>ensuring full adherence to IPL regulations</a:t>
            </a:r>
            <a:endParaRPr>
              <a:solidFill>
                <a:srgbClr val="000000"/>
              </a:solidFill>
            </a:endParaRPr>
          </a:p>
          <a:p>
            <a:pPr indent="0" lvl="0" marL="457200" rtl="0" algn="l">
              <a:spcBef>
                <a:spcPts val="1600"/>
              </a:spcBef>
              <a:spcAft>
                <a:spcPts val="160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
            </a:r>
            <a:r>
              <a:rPr lang="en"/>
              <a:t>ey Constraints &amp; Rules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6" name="Google Shape;106;p16"/>
          <p:cNvSpPr txBox="1"/>
          <p:nvPr>
            <p:ph idx="4294967295" type="body"/>
          </p:nvPr>
        </p:nvSpPr>
        <p:spPr>
          <a:xfrm>
            <a:off x="611475" y="943225"/>
            <a:ext cx="6831000" cy="42003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a:solidFill>
                  <a:srgbClr val="000000"/>
                </a:solidFill>
                <a:latin typeface="Arial"/>
                <a:ea typeface="Arial"/>
                <a:cs typeface="Arial"/>
                <a:sym typeface="Arial"/>
              </a:rPr>
              <a:t>Squad Rules</a:t>
            </a:r>
            <a:endParaRPr b="1">
              <a:solidFill>
                <a:srgbClr val="000000"/>
              </a:solidFill>
              <a:latin typeface="Arial"/>
              <a:ea typeface="Arial"/>
              <a:cs typeface="Arial"/>
              <a:sym typeface="Arial"/>
            </a:endParaRPr>
          </a:p>
          <a:p>
            <a:pPr indent="-342900" lvl="0" marL="457200" rtl="0" algn="l">
              <a:lnSpc>
                <a:spcPct val="100000"/>
              </a:lnSpc>
              <a:spcBef>
                <a:spcPts val="1200"/>
              </a:spcBef>
              <a:spcAft>
                <a:spcPts val="0"/>
              </a:spcAft>
              <a:buClr>
                <a:srgbClr val="000000"/>
              </a:buClr>
              <a:buSzPts val="1800"/>
              <a:buFont typeface="Arial"/>
              <a:buAutoNum type="arabicPeriod"/>
            </a:pPr>
            <a:r>
              <a:rPr b="1" lang="en">
                <a:solidFill>
                  <a:srgbClr val="000000"/>
                </a:solidFill>
                <a:latin typeface="Arial"/>
                <a:ea typeface="Arial"/>
                <a:cs typeface="Arial"/>
                <a:sym typeface="Arial"/>
              </a:rPr>
              <a:t>Budget Limit:</a:t>
            </a:r>
            <a:r>
              <a:rPr lang="en">
                <a:solidFill>
                  <a:srgbClr val="000000"/>
                </a:solidFill>
                <a:latin typeface="Arial"/>
                <a:ea typeface="Arial"/>
                <a:cs typeface="Arial"/>
                <a:sym typeface="Arial"/>
              </a:rPr>
              <a:t> ₹125 Cr</a:t>
            </a:r>
            <a:br>
              <a:rPr lang="en">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342900" lvl="0" marL="457200" rtl="0" algn="l">
              <a:lnSpc>
                <a:spcPct val="100000"/>
              </a:lnSpc>
              <a:spcBef>
                <a:spcPts val="0"/>
              </a:spcBef>
              <a:spcAft>
                <a:spcPts val="0"/>
              </a:spcAft>
              <a:buClr>
                <a:srgbClr val="000000"/>
              </a:buClr>
              <a:buSzPts val="1800"/>
              <a:buFont typeface="Arial"/>
              <a:buAutoNum type="arabicPeriod"/>
            </a:pPr>
            <a:r>
              <a:rPr b="1" lang="en">
                <a:solidFill>
                  <a:srgbClr val="000000"/>
                </a:solidFill>
                <a:latin typeface="Arial"/>
                <a:ea typeface="Arial"/>
                <a:cs typeface="Arial"/>
                <a:sym typeface="Arial"/>
              </a:rPr>
              <a:t>Squad Size:</a:t>
            </a:r>
            <a:r>
              <a:rPr lang="en">
                <a:solidFill>
                  <a:srgbClr val="000000"/>
                </a:solidFill>
                <a:latin typeface="Arial"/>
                <a:ea typeface="Arial"/>
                <a:cs typeface="Arial"/>
                <a:sym typeface="Arial"/>
              </a:rPr>
              <a:t> 18–25 players</a:t>
            </a:r>
            <a:br>
              <a:rPr lang="en">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342900" lvl="0" marL="457200" rtl="0" algn="l">
              <a:lnSpc>
                <a:spcPct val="100000"/>
              </a:lnSpc>
              <a:spcBef>
                <a:spcPts val="0"/>
              </a:spcBef>
              <a:spcAft>
                <a:spcPts val="0"/>
              </a:spcAft>
              <a:buClr>
                <a:srgbClr val="000000"/>
              </a:buClr>
              <a:buSzPts val="1800"/>
              <a:buFont typeface="Arial"/>
              <a:buAutoNum type="arabicPeriod"/>
            </a:pPr>
            <a:r>
              <a:rPr b="1" lang="en">
                <a:solidFill>
                  <a:srgbClr val="000000"/>
                </a:solidFill>
                <a:latin typeface="Arial"/>
                <a:ea typeface="Arial"/>
                <a:cs typeface="Arial"/>
                <a:sym typeface="Arial"/>
              </a:rPr>
              <a:t>Mandatory:</a:t>
            </a:r>
            <a:r>
              <a:rPr lang="en">
                <a:solidFill>
                  <a:srgbClr val="000000"/>
                </a:solidFill>
                <a:latin typeface="Arial"/>
                <a:ea typeface="Arial"/>
                <a:cs typeface="Arial"/>
                <a:sym typeface="Arial"/>
              </a:rPr>
              <a:t> Selection of a Playing XI</a:t>
            </a:r>
            <a:endParaRPr>
              <a:solidFill>
                <a:srgbClr val="000000"/>
              </a:solidFill>
              <a:latin typeface="Arial"/>
              <a:ea typeface="Arial"/>
              <a:cs typeface="Arial"/>
              <a:sym typeface="Arial"/>
            </a:endParaRPr>
          </a:p>
          <a:p>
            <a:pPr indent="0" lvl="0" marL="0" rtl="0" algn="l">
              <a:spcBef>
                <a:spcPts val="1800"/>
              </a:spcBef>
              <a:spcAft>
                <a:spcPts val="0"/>
              </a:spcAft>
              <a:buNone/>
            </a:pPr>
            <a:r>
              <a:rPr b="1" lang="en">
                <a:solidFill>
                  <a:srgbClr val="000000"/>
                </a:solidFill>
                <a:latin typeface="Arial"/>
                <a:ea typeface="Arial"/>
                <a:cs typeface="Arial"/>
                <a:sym typeface="Arial"/>
              </a:rPr>
              <a:t>IPL Regulations</a:t>
            </a:r>
            <a:endParaRPr b="1">
              <a:solidFill>
                <a:srgbClr val="000000"/>
              </a:solidFill>
              <a:latin typeface="Arial"/>
              <a:ea typeface="Arial"/>
              <a:cs typeface="Arial"/>
              <a:sym typeface="Arial"/>
            </a:endParaRPr>
          </a:p>
          <a:p>
            <a:pPr indent="-342900" lvl="0" marL="457200" rtl="0" algn="l">
              <a:lnSpc>
                <a:spcPct val="100000"/>
              </a:lnSpc>
              <a:spcBef>
                <a:spcPts val="1200"/>
              </a:spcBef>
              <a:spcAft>
                <a:spcPts val="0"/>
              </a:spcAft>
              <a:buClr>
                <a:srgbClr val="000000"/>
              </a:buClr>
              <a:buSzPts val="1800"/>
              <a:buFont typeface="Arial"/>
              <a:buAutoNum type="arabicPeriod"/>
            </a:pPr>
            <a:r>
              <a:rPr lang="en">
                <a:solidFill>
                  <a:srgbClr val="000000"/>
                </a:solidFill>
                <a:latin typeface="Arial"/>
                <a:ea typeface="Arial"/>
                <a:cs typeface="Arial"/>
                <a:sym typeface="Arial"/>
              </a:rPr>
              <a:t>At least one wicket-keeper must be included</a:t>
            </a:r>
            <a:br>
              <a:rPr lang="en">
                <a:solidFill>
                  <a:srgbClr val="000000"/>
                </a:solidFill>
                <a:latin typeface="Arial"/>
                <a:ea typeface="Arial"/>
                <a:cs typeface="Arial"/>
                <a:sym typeface="Arial"/>
              </a:rPr>
            </a:br>
            <a:endParaRPr>
              <a:solidFill>
                <a:srgbClr val="000000"/>
              </a:solidFill>
              <a:latin typeface="Arial"/>
              <a:ea typeface="Arial"/>
              <a:cs typeface="Arial"/>
              <a:sym typeface="Arial"/>
            </a:endParaRPr>
          </a:p>
          <a:p>
            <a:pPr indent="-342900" lvl="0" marL="457200" rtl="0" algn="l">
              <a:lnSpc>
                <a:spcPct val="100000"/>
              </a:lnSpc>
              <a:spcBef>
                <a:spcPts val="0"/>
              </a:spcBef>
              <a:spcAft>
                <a:spcPts val="0"/>
              </a:spcAft>
              <a:buClr>
                <a:srgbClr val="000000"/>
              </a:buClr>
              <a:buSzPts val="1800"/>
              <a:buFont typeface="Arial"/>
              <a:buAutoNum type="arabicPeriod"/>
            </a:pPr>
            <a:r>
              <a:rPr lang="en">
                <a:solidFill>
                  <a:srgbClr val="000000"/>
                </a:solidFill>
                <a:latin typeface="Arial"/>
                <a:ea typeface="Arial"/>
                <a:cs typeface="Arial"/>
                <a:sym typeface="Arial"/>
              </a:rPr>
              <a:t>Maximum of 8 foreign players allowed in the squad</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600"/>
              </a:spcAft>
              <a:buNone/>
            </a:pPr>
            <a:r>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Overview</a:t>
            </a:r>
            <a:endParaRPr/>
          </a:p>
        </p:txBody>
      </p:sp>
      <p:grpSp>
        <p:nvGrpSpPr>
          <p:cNvPr id="112" name="Google Shape;112;p17"/>
          <p:cNvGrpSpPr/>
          <p:nvPr/>
        </p:nvGrpSpPr>
        <p:grpSpPr>
          <a:xfrm>
            <a:off x="431925" y="1304875"/>
            <a:ext cx="2628925" cy="3416400"/>
            <a:chOff x="431925" y="1304875"/>
            <a:chExt cx="2628925" cy="3416400"/>
          </a:xfrm>
        </p:grpSpPr>
        <p:sp>
          <p:nvSpPr>
            <p:cNvPr id="113" name="Google Shape;113;p17"/>
            <p:cNvSpPr txBox="1"/>
            <p:nvPr/>
          </p:nvSpPr>
          <p:spPr>
            <a:xfrm>
              <a:off x="431925"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7"/>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17"/>
          <p:cNvSpPr txBox="1"/>
          <p:nvPr>
            <p:ph idx="4294967295" type="body"/>
          </p:nvPr>
        </p:nvSpPr>
        <p:spPr>
          <a:xfrm>
            <a:off x="50642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Batsmen Metrics</a:t>
            </a:r>
            <a:endParaRPr>
              <a:solidFill>
                <a:schemeClr val="lt1"/>
              </a:solidFill>
            </a:endParaRPr>
          </a:p>
        </p:txBody>
      </p:sp>
      <p:sp>
        <p:nvSpPr>
          <p:cNvPr id="116" name="Google Shape;116;p17"/>
          <p:cNvSpPr txBox="1"/>
          <p:nvPr>
            <p:ph idx="4294967295" type="body"/>
          </p:nvPr>
        </p:nvSpPr>
        <p:spPr>
          <a:xfrm>
            <a:off x="508325" y="1850300"/>
            <a:ext cx="2478600" cy="27948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AutoNum type="arabicPeriod"/>
            </a:pPr>
            <a:r>
              <a:rPr lang="en" sz="1600"/>
              <a:t>Runs, Strike Rate</a:t>
            </a:r>
            <a:br>
              <a:rPr lang="en" sz="1600"/>
            </a:br>
            <a:endParaRPr sz="1600"/>
          </a:p>
          <a:p>
            <a:pPr indent="-330200" lvl="0" marL="457200" rtl="0" algn="just">
              <a:lnSpc>
                <a:spcPct val="100000"/>
              </a:lnSpc>
              <a:spcBef>
                <a:spcPts val="0"/>
              </a:spcBef>
              <a:spcAft>
                <a:spcPts val="0"/>
              </a:spcAft>
              <a:buSzPts val="1600"/>
              <a:buAutoNum type="arabicPeriod"/>
            </a:pPr>
            <a:r>
              <a:rPr lang="en" sz="1600"/>
              <a:t>Boundary %</a:t>
            </a:r>
            <a:br>
              <a:rPr lang="en" sz="1600"/>
            </a:br>
            <a:endParaRPr sz="1600"/>
          </a:p>
          <a:p>
            <a:pPr indent="-330200" lvl="0" marL="457200" rtl="0" algn="just">
              <a:lnSpc>
                <a:spcPct val="100000"/>
              </a:lnSpc>
              <a:spcBef>
                <a:spcPts val="0"/>
              </a:spcBef>
              <a:spcAft>
                <a:spcPts val="0"/>
              </a:spcAft>
              <a:buSzPts val="1600"/>
              <a:buAutoNum type="arabicPeriod"/>
            </a:pPr>
            <a:r>
              <a:rPr lang="en" sz="1600"/>
              <a:t>Batting Average</a:t>
            </a:r>
            <a:br>
              <a:rPr lang="en" sz="1600"/>
            </a:br>
            <a:endParaRPr sz="1600"/>
          </a:p>
          <a:p>
            <a:pPr indent="-330200" lvl="0" marL="457200" rtl="0" algn="just">
              <a:lnSpc>
                <a:spcPct val="100000"/>
              </a:lnSpc>
              <a:spcBef>
                <a:spcPts val="0"/>
              </a:spcBef>
              <a:spcAft>
                <a:spcPts val="0"/>
              </a:spcAft>
              <a:buSzPts val="1600"/>
              <a:buAutoNum type="arabicPeriod"/>
            </a:pPr>
            <a:r>
              <a:rPr lang="en" sz="1600"/>
              <a:t>Batting Impact Score</a:t>
            </a:r>
            <a:endParaRPr sz="1600"/>
          </a:p>
          <a:p>
            <a:pPr indent="0" lvl="0" marL="0" rtl="0" algn="l">
              <a:spcBef>
                <a:spcPts val="1600"/>
              </a:spcBef>
              <a:spcAft>
                <a:spcPts val="1600"/>
              </a:spcAft>
              <a:buNone/>
            </a:pPr>
            <a:r>
              <a:t/>
            </a:r>
            <a:endParaRPr sz="1600"/>
          </a:p>
        </p:txBody>
      </p:sp>
      <p:grpSp>
        <p:nvGrpSpPr>
          <p:cNvPr id="117" name="Google Shape;117;p17"/>
          <p:cNvGrpSpPr/>
          <p:nvPr/>
        </p:nvGrpSpPr>
        <p:grpSpPr>
          <a:xfrm>
            <a:off x="3320450" y="1304875"/>
            <a:ext cx="2632500" cy="3416400"/>
            <a:chOff x="3320450" y="1304875"/>
            <a:chExt cx="2632500" cy="3416400"/>
          </a:xfrm>
        </p:grpSpPr>
        <p:sp>
          <p:nvSpPr>
            <p:cNvPr id="118" name="Google Shape;118;p17"/>
            <p:cNvSpPr txBox="1"/>
            <p:nvPr/>
          </p:nvSpPr>
          <p:spPr>
            <a:xfrm>
              <a:off x="3324050"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7"/>
            <p:cNvSpPr/>
            <p:nvPr/>
          </p:nvSpPr>
          <p:spPr>
            <a:xfrm>
              <a:off x="33204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 name="Google Shape;120;p17"/>
          <p:cNvSpPr txBox="1"/>
          <p:nvPr>
            <p:ph idx="4294967295" type="body"/>
          </p:nvPr>
        </p:nvSpPr>
        <p:spPr>
          <a:xfrm>
            <a:off x="3389450"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Bowler Mertics</a:t>
            </a:r>
            <a:endParaRPr>
              <a:solidFill>
                <a:schemeClr val="lt1"/>
              </a:solidFill>
            </a:endParaRPr>
          </a:p>
        </p:txBody>
      </p:sp>
      <p:sp>
        <p:nvSpPr>
          <p:cNvPr id="121" name="Google Shape;121;p17"/>
          <p:cNvSpPr txBox="1"/>
          <p:nvPr>
            <p:ph idx="4294967295" type="body"/>
          </p:nvPr>
        </p:nvSpPr>
        <p:spPr>
          <a:xfrm>
            <a:off x="3396775" y="1850300"/>
            <a:ext cx="2478600" cy="27948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AutoNum type="arabicPeriod"/>
            </a:pPr>
            <a:r>
              <a:rPr lang="en" sz="1600"/>
              <a:t>Wickets, Economy, Dot balls</a:t>
            </a:r>
            <a:br>
              <a:rPr lang="en" sz="1600"/>
            </a:br>
            <a:endParaRPr sz="1600"/>
          </a:p>
          <a:p>
            <a:pPr indent="-330200" lvl="0" marL="457200" rtl="0" algn="just">
              <a:lnSpc>
                <a:spcPct val="100000"/>
              </a:lnSpc>
              <a:spcBef>
                <a:spcPts val="0"/>
              </a:spcBef>
              <a:spcAft>
                <a:spcPts val="0"/>
              </a:spcAft>
              <a:buSzPts val="1600"/>
              <a:buAutoNum type="arabicPeriod"/>
            </a:pPr>
            <a:r>
              <a:rPr lang="en" sz="1600"/>
              <a:t>Dot ball %</a:t>
            </a:r>
            <a:endParaRPr sz="1600"/>
          </a:p>
          <a:p>
            <a:pPr indent="0" lvl="0" marL="0" rtl="0" algn="just">
              <a:lnSpc>
                <a:spcPct val="100000"/>
              </a:lnSpc>
              <a:spcBef>
                <a:spcPts val="0"/>
              </a:spcBef>
              <a:spcAft>
                <a:spcPts val="0"/>
              </a:spcAft>
              <a:buNone/>
            </a:pPr>
            <a:r>
              <a:t/>
            </a:r>
            <a:endParaRPr sz="1600"/>
          </a:p>
          <a:p>
            <a:pPr indent="-330200" lvl="0" marL="457200" rtl="0" algn="just">
              <a:lnSpc>
                <a:spcPct val="100000"/>
              </a:lnSpc>
              <a:spcBef>
                <a:spcPts val="0"/>
              </a:spcBef>
              <a:spcAft>
                <a:spcPts val="0"/>
              </a:spcAft>
              <a:buSzPts val="1600"/>
              <a:buAutoNum type="arabicPeriod"/>
            </a:pPr>
            <a:r>
              <a:rPr lang="en" sz="1600"/>
              <a:t>Bowling Impact Score</a:t>
            </a:r>
            <a:br>
              <a:rPr lang="en" sz="1600"/>
            </a:br>
            <a:endParaRPr sz="1600"/>
          </a:p>
          <a:p>
            <a:pPr indent="-330200" lvl="0" marL="457200" rtl="0" algn="just">
              <a:lnSpc>
                <a:spcPct val="100000"/>
              </a:lnSpc>
              <a:spcBef>
                <a:spcPts val="0"/>
              </a:spcBef>
              <a:spcAft>
                <a:spcPts val="0"/>
              </a:spcAft>
              <a:buSzPts val="1600"/>
              <a:buAutoNum type="arabicPeriod"/>
            </a:pPr>
            <a:r>
              <a:rPr lang="en" sz="1600"/>
              <a:t>Efficiency Metrics</a:t>
            </a:r>
            <a:endParaRPr sz="1600"/>
          </a:p>
          <a:p>
            <a:pPr indent="0" lvl="0" marL="0" rtl="0" algn="l">
              <a:spcBef>
                <a:spcPts val="1600"/>
              </a:spcBef>
              <a:spcAft>
                <a:spcPts val="1600"/>
              </a:spcAft>
              <a:buNone/>
            </a:pPr>
            <a:r>
              <a:t/>
            </a:r>
            <a:endParaRPr sz="1600"/>
          </a:p>
        </p:txBody>
      </p:sp>
      <p:grpSp>
        <p:nvGrpSpPr>
          <p:cNvPr id="122" name="Google Shape;122;p17"/>
          <p:cNvGrpSpPr/>
          <p:nvPr/>
        </p:nvGrpSpPr>
        <p:grpSpPr>
          <a:xfrm>
            <a:off x="6212550" y="1304875"/>
            <a:ext cx="2632500" cy="3416400"/>
            <a:chOff x="6212550" y="1304875"/>
            <a:chExt cx="2632500" cy="3416400"/>
          </a:xfrm>
        </p:grpSpPr>
        <p:sp>
          <p:nvSpPr>
            <p:cNvPr id="123" name="Google Shape;123;p17"/>
            <p:cNvSpPr/>
            <p:nvPr/>
          </p:nvSpPr>
          <p:spPr>
            <a:xfrm>
              <a:off x="621540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7"/>
            <p:cNvSpPr txBox="1"/>
            <p:nvPr/>
          </p:nvSpPr>
          <p:spPr>
            <a:xfrm>
              <a:off x="6212550" y="1304875"/>
              <a:ext cx="26325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7"/>
          <p:cNvSpPr txBox="1"/>
          <p:nvPr>
            <p:ph idx="4294967295" type="body"/>
          </p:nvPr>
        </p:nvSpPr>
        <p:spPr>
          <a:xfrm>
            <a:off x="627247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All rounder Metrics</a:t>
            </a:r>
            <a:endParaRPr>
              <a:solidFill>
                <a:schemeClr val="lt1"/>
              </a:solidFill>
            </a:endParaRPr>
          </a:p>
        </p:txBody>
      </p:sp>
      <p:sp>
        <p:nvSpPr>
          <p:cNvPr id="126" name="Google Shape;126;p17"/>
          <p:cNvSpPr txBox="1"/>
          <p:nvPr>
            <p:ph idx="4294967295" type="body"/>
          </p:nvPr>
        </p:nvSpPr>
        <p:spPr>
          <a:xfrm>
            <a:off x="6286400" y="1850300"/>
            <a:ext cx="2478600" cy="27948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AutoNum type="arabicPeriod"/>
            </a:pPr>
            <a:r>
              <a:rPr lang="en" sz="1600"/>
              <a:t>Combined Impact Score</a:t>
            </a:r>
            <a:br>
              <a:rPr lang="en" sz="1600"/>
            </a:br>
            <a:endParaRPr sz="1600"/>
          </a:p>
          <a:p>
            <a:pPr indent="-330200" lvl="0" marL="457200" rtl="0" algn="just">
              <a:lnSpc>
                <a:spcPct val="100000"/>
              </a:lnSpc>
              <a:spcBef>
                <a:spcPts val="0"/>
              </a:spcBef>
              <a:spcAft>
                <a:spcPts val="0"/>
              </a:spcAft>
              <a:buSzPts val="1600"/>
              <a:buAutoNum type="arabicPeriod"/>
            </a:pPr>
            <a:r>
              <a:rPr lang="en" sz="1600"/>
              <a:t>Experience Score</a:t>
            </a:r>
            <a:br>
              <a:rPr lang="en" sz="1600"/>
            </a:br>
            <a:endParaRPr sz="1600"/>
          </a:p>
          <a:p>
            <a:pPr indent="0" lvl="0" marL="0" rtl="0" algn="l">
              <a:spcBef>
                <a:spcPts val="1600"/>
              </a:spcBef>
              <a:spcAft>
                <a:spcPts val="1600"/>
              </a:spcAft>
              <a:buNone/>
            </a:pPr>
            <a:r>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Cleaning </a:t>
            </a:r>
            <a:endParaRPr/>
          </a:p>
        </p:txBody>
      </p:sp>
      <p:sp>
        <p:nvSpPr>
          <p:cNvPr id="132" name="Google Shape;132;p18"/>
          <p:cNvSpPr txBox="1"/>
          <p:nvPr>
            <p:ph idx="4294967295" type="body"/>
          </p:nvPr>
        </p:nvSpPr>
        <p:spPr>
          <a:xfrm>
            <a:off x="405150" y="1319725"/>
            <a:ext cx="4167000" cy="3426000"/>
          </a:xfrm>
          <a:prstGeom prst="rect">
            <a:avLst/>
          </a:prstGeom>
        </p:spPr>
        <p:txBody>
          <a:bodyPr anchorCtr="0" anchor="t" bIns="91425" lIns="91425" spcFirstLastPara="1" rIns="91425" wrap="square" tIns="91425">
            <a:noAutofit/>
          </a:bodyPr>
          <a:lstStyle/>
          <a:p>
            <a:pPr indent="-336550" lvl="0" marL="457200" rtl="0" algn="just">
              <a:spcBef>
                <a:spcPts val="1000"/>
              </a:spcBef>
              <a:spcAft>
                <a:spcPts val="0"/>
              </a:spcAft>
              <a:buClr>
                <a:srgbClr val="222222"/>
              </a:buClr>
              <a:buSzPts val="1700"/>
              <a:buFont typeface="Arial"/>
              <a:buAutoNum type="arabicPeriod"/>
            </a:pPr>
            <a:r>
              <a:rPr lang="en" sz="1700">
                <a:solidFill>
                  <a:srgbClr val="222222"/>
                </a:solidFill>
                <a:highlight>
                  <a:srgbClr val="FFFFFF"/>
                </a:highlight>
                <a:latin typeface="Arial"/>
                <a:ea typeface="Arial"/>
                <a:cs typeface="Arial"/>
                <a:sym typeface="Arial"/>
              </a:rPr>
              <a:t>Missing / zero values across role-based score columns</a:t>
            </a:r>
            <a:endParaRPr sz="1700">
              <a:solidFill>
                <a:srgbClr val="222222"/>
              </a:solidFill>
              <a:highlight>
                <a:srgbClr val="FFFFFF"/>
              </a:highlight>
              <a:latin typeface="Arial"/>
              <a:ea typeface="Arial"/>
              <a:cs typeface="Arial"/>
              <a:sym typeface="Arial"/>
            </a:endParaRPr>
          </a:p>
          <a:p>
            <a:pPr indent="-336550" lvl="0" marL="457200" rtl="0" algn="just">
              <a:spcBef>
                <a:spcPts val="0"/>
              </a:spcBef>
              <a:spcAft>
                <a:spcPts val="0"/>
              </a:spcAft>
              <a:buClr>
                <a:srgbClr val="222222"/>
              </a:buClr>
              <a:buSzPts val="1700"/>
              <a:buFont typeface="Arial"/>
              <a:buAutoNum type="arabicPeriod"/>
            </a:pPr>
            <a:r>
              <a:rPr lang="en" sz="1700">
                <a:solidFill>
                  <a:srgbClr val="222222"/>
                </a:solidFill>
                <a:highlight>
                  <a:srgbClr val="FFFFFF"/>
                </a:highlight>
                <a:latin typeface="Arial"/>
                <a:ea typeface="Arial"/>
                <a:cs typeface="Arial"/>
                <a:sym typeface="Arial"/>
              </a:rPr>
              <a:t>Separate performance columns for batsman, bowler, all-rounder, wicket-keeper</a:t>
            </a:r>
            <a:endParaRPr sz="1700">
              <a:solidFill>
                <a:srgbClr val="222222"/>
              </a:solidFill>
              <a:highlight>
                <a:srgbClr val="FFFFFF"/>
              </a:highlight>
              <a:latin typeface="Arial"/>
              <a:ea typeface="Arial"/>
              <a:cs typeface="Arial"/>
              <a:sym typeface="Arial"/>
            </a:endParaRPr>
          </a:p>
          <a:p>
            <a:pPr indent="-336550" lvl="0" marL="457200" rtl="0" algn="just">
              <a:spcBef>
                <a:spcPts val="0"/>
              </a:spcBef>
              <a:spcAft>
                <a:spcPts val="0"/>
              </a:spcAft>
              <a:buClr>
                <a:srgbClr val="222222"/>
              </a:buClr>
              <a:buSzPts val="1700"/>
              <a:buFont typeface="Arial"/>
              <a:buAutoNum type="arabicPeriod"/>
            </a:pPr>
            <a:r>
              <a:rPr lang="en" sz="1700">
                <a:solidFill>
                  <a:srgbClr val="222222"/>
                </a:solidFill>
                <a:highlight>
                  <a:srgbClr val="FFFFFF"/>
                </a:highlight>
                <a:latin typeface="Arial"/>
                <a:ea typeface="Arial"/>
                <a:cs typeface="Arial"/>
                <a:sym typeface="Arial"/>
              </a:rPr>
              <a:t>Inconsistent role labels</a:t>
            </a:r>
            <a:endParaRPr sz="1700">
              <a:solidFill>
                <a:srgbClr val="222222"/>
              </a:solidFill>
              <a:highlight>
                <a:srgbClr val="FFFFFF"/>
              </a:highlight>
              <a:latin typeface="Arial"/>
              <a:ea typeface="Arial"/>
              <a:cs typeface="Arial"/>
              <a:sym typeface="Arial"/>
            </a:endParaRPr>
          </a:p>
          <a:p>
            <a:pPr indent="-336550" lvl="0" marL="457200" rtl="0" algn="just">
              <a:spcBef>
                <a:spcPts val="0"/>
              </a:spcBef>
              <a:spcAft>
                <a:spcPts val="0"/>
              </a:spcAft>
              <a:buClr>
                <a:srgbClr val="222222"/>
              </a:buClr>
              <a:buSzPts val="1700"/>
              <a:buFont typeface="Arial"/>
              <a:buAutoNum type="arabicPeriod"/>
            </a:pPr>
            <a:r>
              <a:rPr lang="en" sz="1700">
                <a:solidFill>
                  <a:srgbClr val="222222"/>
                </a:solidFill>
                <a:highlight>
                  <a:srgbClr val="FFFFFF"/>
                </a:highlight>
                <a:latin typeface="Arial"/>
                <a:ea typeface="Arial"/>
                <a:cs typeface="Arial"/>
                <a:sym typeface="Arial"/>
              </a:rPr>
              <a:t>Mixed numeric &amp; text formats</a:t>
            </a:r>
            <a:endParaRPr sz="1700">
              <a:solidFill>
                <a:srgbClr val="222222"/>
              </a:solidFill>
              <a:highlight>
                <a:srgbClr val="FFFFFF"/>
              </a:highlight>
              <a:latin typeface="Arial"/>
              <a:ea typeface="Arial"/>
              <a:cs typeface="Arial"/>
              <a:sym typeface="Arial"/>
            </a:endParaRPr>
          </a:p>
          <a:p>
            <a:pPr indent="-336550" lvl="0" marL="457200" rtl="0" algn="just">
              <a:spcBef>
                <a:spcPts val="0"/>
              </a:spcBef>
              <a:spcAft>
                <a:spcPts val="0"/>
              </a:spcAft>
              <a:buClr>
                <a:srgbClr val="222222"/>
              </a:buClr>
              <a:buSzPts val="1700"/>
              <a:buFont typeface="Arial"/>
              <a:buAutoNum type="arabicPeriod"/>
            </a:pPr>
            <a:r>
              <a:rPr lang="en" sz="1700">
                <a:solidFill>
                  <a:srgbClr val="222222"/>
                </a:solidFill>
                <a:highlight>
                  <a:srgbClr val="FFFFFF"/>
                </a:highlight>
                <a:latin typeface="Arial"/>
                <a:ea typeface="Arial"/>
                <a:cs typeface="Arial"/>
                <a:sym typeface="Arial"/>
              </a:rPr>
              <a:t>Raw dataset not directly usable for analysis</a:t>
            </a:r>
            <a:endParaRPr sz="1700">
              <a:solidFill>
                <a:srgbClr val="222222"/>
              </a:solidFill>
              <a:highlight>
                <a:srgbClr val="FFFFFF"/>
              </a:highlight>
              <a:latin typeface="Arial"/>
              <a:ea typeface="Arial"/>
              <a:cs typeface="Arial"/>
              <a:sym typeface="Arial"/>
            </a:endParaRPr>
          </a:p>
          <a:p>
            <a:pPr indent="0" lvl="0" marL="457200" rtl="0" algn="just">
              <a:spcBef>
                <a:spcPts val="1000"/>
              </a:spcBef>
              <a:spcAft>
                <a:spcPts val="0"/>
              </a:spcAft>
              <a:buNone/>
            </a:pPr>
            <a:r>
              <a:t/>
            </a:r>
            <a:endParaRPr>
              <a:solidFill>
                <a:srgbClr val="222222"/>
              </a:solidFill>
              <a:highlight>
                <a:srgbClr val="FFFFFF"/>
              </a:highlight>
              <a:latin typeface="Arial"/>
              <a:ea typeface="Arial"/>
              <a:cs typeface="Arial"/>
              <a:sym typeface="Arial"/>
            </a:endParaRPr>
          </a:p>
          <a:p>
            <a:pPr indent="0" lvl="0" marL="0" rtl="0" algn="l">
              <a:spcBef>
                <a:spcPts val="1000"/>
              </a:spcBef>
              <a:spcAft>
                <a:spcPts val="1600"/>
              </a:spcAft>
              <a:buNone/>
            </a:pPr>
            <a:r>
              <a:t/>
            </a:r>
            <a:endParaRPr sz="1600"/>
          </a:p>
        </p:txBody>
      </p:sp>
      <p:sp>
        <p:nvSpPr>
          <p:cNvPr id="133" name="Google Shape;133;p18"/>
          <p:cNvSpPr txBox="1"/>
          <p:nvPr/>
        </p:nvSpPr>
        <p:spPr>
          <a:xfrm>
            <a:off x="4730850" y="1444450"/>
            <a:ext cx="4577100" cy="29667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000"/>
              </a:spcBef>
              <a:spcAft>
                <a:spcPts val="0"/>
              </a:spcAft>
              <a:buClr>
                <a:srgbClr val="222222"/>
              </a:buClr>
              <a:buSzPts val="1700"/>
              <a:buAutoNum type="arabicPeriod"/>
            </a:pPr>
            <a:r>
              <a:rPr lang="en" sz="1700">
                <a:solidFill>
                  <a:srgbClr val="222222"/>
                </a:solidFill>
                <a:highlight>
                  <a:srgbClr val="FFFFFF"/>
                </a:highlight>
              </a:rPr>
              <a:t>Removed blanks and duplicate players</a:t>
            </a:r>
            <a:endParaRPr sz="1700">
              <a:solidFill>
                <a:srgbClr val="222222"/>
              </a:solidFill>
              <a:highlight>
                <a:srgbClr val="FFFFFF"/>
              </a:highlight>
            </a:endParaRPr>
          </a:p>
          <a:p>
            <a:pPr indent="-336550" lvl="0" marL="4572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Replaced missing scores with 0</a:t>
            </a:r>
            <a:endParaRPr sz="1700">
              <a:solidFill>
                <a:srgbClr val="222222"/>
              </a:solidFill>
              <a:highlight>
                <a:srgbClr val="FFFFFF"/>
              </a:highlight>
            </a:endParaRPr>
          </a:p>
          <a:p>
            <a:pPr indent="-336550" lvl="0" marL="4572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Standardized role names (Batsman, Bowler, All-Rounder, Wicket-Keeper)</a:t>
            </a:r>
            <a:endParaRPr sz="1700">
              <a:solidFill>
                <a:srgbClr val="222222"/>
              </a:solidFill>
              <a:highlight>
                <a:srgbClr val="FFFFFF"/>
              </a:highlight>
            </a:endParaRPr>
          </a:p>
          <a:p>
            <a:pPr indent="-336550" lvl="0" marL="4572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Converted price and score columns to numeric</a:t>
            </a:r>
            <a:endParaRPr sz="1700">
              <a:solidFill>
                <a:srgbClr val="222222"/>
              </a:solidFill>
              <a:highlight>
                <a:srgbClr val="FFFFFF"/>
              </a:highlight>
            </a:endParaRPr>
          </a:p>
          <a:p>
            <a:pPr indent="-336550" lvl="0" marL="4572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Validated each player belongs to only one role</a:t>
            </a:r>
            <a:endParaRPr sz="1700">
              <a:solidFill>
                <a:srgbClr val="222222"/>
              </a:solidFill>
              <a:highlight>
                <a:srgbClr val="FFFFFF"/>
              </a:highlight>
            </a:endParaRPr>
          </a:p>
          <a:p>
            <a:pPr indent="0" lvl="0" marL="914400" rtl="0" algn="l">
              <a:lnSpc>
                <a:spcPct val="115000"/>
              </a:lnSpc>
              <a:spcBef>
                <a:spcPts val="1000"/>
              </a:spcBef>
              <a:spcAft>
                <a:spcPts val="1000"/>
              </a:spcAft>
              <a:buNone/>
            </a:pPr>
            <a:r>
              <a:t/>
            </a:r>
            <a:endParaRPr sz="1600">
              <a:solidFill>
                <a:srgbClr val="222222"/>
              </a:solidFill>
              <a:highlight>
                <a:srgbClr val="FFFFFF"/>
              </a:highlight>
            </a:endParaRPr>
          </a:p>
        </p:txBody>
      </p:sp>
      <p:sp>
        <p:nvSpPr>
          <p:cNvPr id="134" name="Google Shape;134;p18"/>
          <p:cNvSpPr txBox="1"/>
          <p:nvPr/>
        </p:nvSpPr>
        <p:spPr>
          <a:xfrm>
            <a:off x="884275" y="4421350"/>
            <a:ext cx="7457400" cy="5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222222"/>
                </a:solidFill>
                <a:latin typeface="Roboto"/>
                <a:ea typeface="Roboto"/>
                <a:cs typeface="Roboto"/>
                <a:sym typeface="Roboto"/>
              </a:rPr>
              <a:t>Outcome:</a:t>
            </a:r>
            <a:r>
              <a:rPr lang="en" sz="1700">
                <a:solidFill>
                  <a:srgbClr val="222222"/>
                </a:solidFill>
                <a:highlight>
                  <a:srgbClr val="FFFFFF"/>
                </a:highlight>
              </a:rPr>
              <a:t>Clean, structured, analysis-ready dataset</a:t>
            </a:r>
            <a:endParaRPr sz="1700">
              <a:solidFill>
                <a:schemeClr val="dk2"/>
              </a:solidFill>
              <a:latin typeface="Roboto"/>
              <a:ea typeface="Roboto"/>
              <a:cs typeface="Roboto"/>
              <a:sym typeface="Roboto"/>
            </a:endParaRPr>
          </a:p>
        </p:txBody>
      </p:sp>
      <p:sp>
        <p:nvSpPr>
          <p:cNvPr id="135" name="Google Shape;135;p18"/>
          <p:cNvSpPr txBox="1"/>
          <p:nvPr/>
        </p:nvSpPr>
        <p:spPr>
          <a:xfrm>
            <a:off x="633725" y="988550"/>
            <a:ext cx="2711700" cy="50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700">
                <a:solidFill>
                  <a:srgbClr val="222222"/>
                </a:solidFill>
                <a:highlight>
                  <a:srgbClr val="FFFFFF"/>
                </a:highlight>
              </a:rPr>
              <a:t>Data Issues Identified</a:t>
            </a:r>
            <a:endParaRPr b="1" sz="1700">
              <a:solidFill>
                <a:srgbClr val="222222"/>
              </a:solidFill>
              <a:highlight>
                <a:srgbClr val="FFFFFF"/>
              </a:highlight>
            </a:endParaRPr>
          </a:p>
          <a:p>
            <a:pPr indent="0" lvl="0" marL="0" rtl="0" algn="l">
              <a:spcBef>
                <a:spcPts val="400"/>
              </a:spcBef>
              <a:spcAft>
                <a:spcPts val="0"/>
              </a:spcAft>
              <a:buNone/>
            </a:pPr>
            <a:r>
              <a:t/>
            </a:r>
            <a:endParaRPr sz="1700">
              <a:solidFill>
                <a:schemeClr val="dk2"/>
              </a:solidFill>
              <a:latin typeface="Roboto"/>
              <a:ea typeface="Roboto"/>
              <a:cs typeface="Roboto"/>
              <a:sym typeface="Roboto"/>
            </a:endParaRPr>
          </a:p>
        </p:txBody>
      </p:sp>
      <p:sp>
        <p:nvSpPr>
          <p:cNvPr id="136" name="Google Shape;136;p18"/>
          <p:cNvSpPr txBox="1"/>
          <p:nvPr/>
        </p:nvSpPr>
        <p:spPr>
          <a:xfrm>
            <a:off x="4878225" y="1017800"/>
            <a:ext cx="3537300" cy="44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700">
                <a:solidFill>
                  <a:srgbClr val="222222"/>
                </a:solidFill>
                <a:highlight>
                  <a:srgbClr val="FFFFFF"/>
                </a:highlight>
              </a:rPr>
              <a:t>Cleaning Actions Performed</a:t>
            </a:r>
            <a:endParaRPr b="1" sz="1700">
              <a:solidFill>
                <a:srgbClr val="222222"/>
              </a:solidFill>
              <a:highlight>
                <a:srgbClr val="FFFFFF"/>
              </a:highlight>
            </a:endParaRPr>
          </a:p>
          <a:p>
            <a:pPr indent="0" lvl="0" marL="0" rtl="0" algn="l">
              <a:spcBef>
                <a:spcPts val="40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Pre-processing &amp; Feature Engineering</a:t>
            </a:r>
            <a:endParaRPr/>
          </a:p>
        </p:txBody>
      </p:sp>
      <p:sp>
        <p:nvSpPr>
          <p:cNvPr id="142" name="Google Shape;142;p19"/>
          <p:cNvSpPr txBox="1"/>
          <p:nvPr/>
        </p:nvSpPr>
        <p:spPr>
          <a:xfrm>
            <a:off x="311700" y="2004325"/>
            <a:ext cx="4183200" cy="2380200"/>
          </a:xfrm>
          <a:prstGeom prst="rect">
            <a:avLst/>
          </a:prstGeom>
          <a:noFill/>
          <a:ln>
            <a:noFill/>
          </a:ln>
        </p:spPr>
        <p:txBody>
          <a:bodyPr anchorCtr="0" anchor="t" bIns="91425" lIns="91425" spcFirstLastPara="1" rIns="91425" wrap="square" tIns="91425">
            <a:spAutoFit/>
          </a:bodyPr>
          <a:lstStyle/>
          <a:p>
            <a:pPr indent="-336550" lvl="0" marL="457200" rtl="0" algn="just">
              <a:lnSpc>
                <a:spcPct val="115000"/>
              </a:lnSpc>
              <a:spcBef>
                <a:spcPts val="1000"/>
              </a:spcBef>
              <a:spcAft>
                <a:spcPts val="0"/>
              </a:spcAft>
              <a:buClr>
                <a:srgbClr val="222222"/>
              </a:buClr>
              <a:buSzPts val="1700"/>
              <a:buAutoNum type="arabicPeriod"/>
            </a:pPr>
            <a:r>
              <a:rPr b="1" lang="en" sz="1700">
                <a:solidFill>
                  <a:srgbClr val="222222"/>
                </a:solidFill>
                <a:highlight>
                  <a:srgbClr val="FFFFFF"/>
                </a:highlight>
              </a:rPr>
              <a:t>Final_Player_Score</a:t>
            </a:r>
            <a:r>
              <a:rPr lang="en" sz="1700">
                <a:solidFill>
                  <a:srgbClr val="222222"/>
                </a:solidFill>
                <a:highlight>
                  <a:srgbClr val="FFFFFF"/>
                </a:highlight>
              </a:rPr>
              <a:t>:Overall player performance metric</a:t>
            </a:r>
            <a:endParaRPr sz="1700">
              <a:solidFill>
                <a:srgbClr val="222222"/>
              </a:solidFill>
              <a:highlight>
                <a:srgbClr val="FFFFFF"/>
              </a:highlight>
            </a:endParaRPr>
          </a:p>
          <a:p>
            <a:pPr indent="-336550" lvl="0" marL="457200" rtl="0" algn="just">
              <a:lnSpc>
                <a:spcPct val="115000"/>
              </a:lnSpc>
              <a:spcBef>
                <a:spcPts val="0"/>
              </a:spcBef>
              <a:spcAft>
                <a:spcPts val="0"/>
              </a:spcAft>
              <a:buClr>
                <a:srgbClr val="222222"/>
              </a:buClr>
              <a:buSzPts val="1700"/>
              <a:buAutoNum type="arabicPeriod"/>
            </a:pPr>
            <a:r>
              <a:rPr b="1" lang="en" sz="1700">
                <a:solidFill>
                  <a:srgbClr val="222222"/>
                </a:solidFill>
                <a:highlight>
                  <a:srgbClr val="FFFFFF"/>
                </a:highlight>
              </a:rPr>
              <a:t>Role flags</a:t>
            </a:r>
            <a:r>
              <a:rPr lang="en" sz="1700">
                <a:solidFill>
                  <a:srgbClr val="222222"/>
                </a:solidFill>
                <a:highlight>
                  <a:srgbClr val="FFFFFF"/>
                </a:highlight>
              </a:rPr>
              <a:t> : Is_Batsman, Is_Bowler, etc.</a:t>
            </a:r>
            <a:endParaRPr sz="1700">
              <a:solidFill>
                <a:srgbClr val="222222"/>
              </a:solidFill>
              <a:highlight>
                <a:srgbClr val="FFFFFF"/>
              </a:highlight>
            </a:endParaRPr>
          </a:p>
          <a:p>
            <a:pPr indent="-336550" lvl="0" marL="457200" rtl="0" algn="just">
              <a:lnSpc>
                <a:spcPct val="115000"/>
              </a:lnSpc>
              <a:spcBef>
                <a:spcPts val="0"/>
              </a:spcBef>
              <a:spcAft>
                <a:spcPts val="0"/>
              </a:spcAft>
              <a:buClr>
                <a:srgbClr val="222222"/>
              </a:buClr>
              <a:buSzPts val="1700"/>
              <a:buAutoNum type="arabicPeriod"/>
            </a:pPr>
            <a:r>
              <a:rPr b="1" lang="en" sz="1700">
                <a:solidFill>
                  <a:srgbClr val="222222"/>
                </a:solidFill>
                <a:highlight>
                  <a:srgbClr val="FFFFFF"/>
                </a:highlight>
              </a:rPr>
              <a:t>Player Ranking</a:t>
            </a:r>
            <a:r>
              <a:rPr lang="en" sz="1700">
                <a:solidFill>
                  <a:srgbClr val="222222"/>
                </a:solidFill>
                <a:highlight>
                  <a:srgbClr val="FFFFFF"/>
                </a:highlight>
              </a:rPr>
              <a:t> :Sorted by performance</a:t>
            </a:r>
            <a:endParaRPr sz="1700">
              <a:solidFill>
                <a:srgbClr val="222222"/>
              </a:solidFill>
              <a:highlight>
                <a:srgbClr val="FFFFFF"/>
              </a:highlight>
            </a:endParaRPr>
          </a:p>
          <a:p>
            <a:pPr indent="0" lvl="0" marL="0" rtl="0" algn="just">
              <a:lnSpc>
                <a:spcPct val="115000"/>
              </a:lnSpc>
              <a:spcBef>
                <a:spcPts val="1000"/>
              </a:spcBef>
              <a:spcAft>
                <a:spcPts val="1000"/>
              </a:spcAft>
              <a:buNone/>
            </a:pPr>
            <a:r>
              <a:t/>
            </a:r>
            <a:endParaRPr b="1" sz="1700">
              <a:solidFill>
                <a:srgbClr val="222222"/>
              </a:solidFill>
              <a:highlight>
                <a:srgbClr val="FFFFFF"/>
              </a:highlight>
            </a:endParaRPr>
          </a:p>
        </p:txBody>
      </p:sp>
      <p:sp>
        <p:nvSpPr>
          <p:cNvPr id="143" name="Google Shape;143;p19"/>
          <p:cNvSpPr txBox="1"/>
          <p:nvPr/>
        </p:nvSpPr>
        <p:spPr>
          <a:xfrm>
            <a:off x="5055075" y="2313850"/>
            <a:ext cx="3993900" cy="747300"/>
          </a:xfrm>
          <a:prstGeom prst="rect">
            <a:avLst/>
          </a:prstGeom>
          <a:noFill/>
          <a:ln>
            <a:noFill/>
          </a:ln>
        </p:spPr>
        <p:txBody>
          <a:bodyPr anchorCtr="0" anchor="t" bIns="91425" lIns="91425" spcFirstLastPara="1" rIns="91425" wrap="square" tIns="91425">
            <a:spAutoFit/>
          </a:bodyPr>
          <a:lstStyle/>
          <a:p>
            <a:pPr indent="-336550" lvl="0" marL="457200" rtl="0" algn="just">
              <a:lnSpc>
                <a:spcPct val="115000"/>
              </a:lnSpc>
              <a:spcBef>
                <a:spcPts val="1000"/>
              </a:spcBef>
              <a:spcAft>
                <a:spcPts val="0"/>
              </a:spcAft>
              <a:buClr>
                <a:srgbClr val="222222"/>
              </a:buClr>
              <a:buSzPts val="1700"/>
              <a:buAutoNum type="arabicPeriod"/>
            </a:pPr>
            <a:r>
              <a:rPr lang="en" sz="1700">
                <a:solidFill>
                  <a:srgbClr val="222222"/>
                </a:solidFill>
                <a:highlight>
                  <a:srgbClr val="FFFFFF"/>
                </a:highlight>
              </a:rPr>
              <a:t>Role-wise aggregation</a:t>
            </a:r>
            <a:endParaRPr sz="1700">
              <a:solidFill>
                <a:srgbClr val="222222"/>
              </a:solidFill>
              <a:highlight>
                <a:srgbClr val="FFFFFF"/>
              </a:highlight>
            </a:endParaRPr>
          </a:p>
          <a:p>
            <a:pPr indent="-336550" lvl="0" marL="457200" rtl="0" algn="just">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Average performance calculation</a:t>
            </a:r>
            <a:endParaRPr sz="1700">
              <a:solidFill>
                <a:srgbClr val="222222"/>
              </a:solidFill>
              <a:highlight>
                <a:srgbClr val="FFFFFF"/>
              </a:highlight>
            </a:endParaRPr>
          </a:p>
        </p:txBody>
      </p:sp>
      <p:sp>
        <p:nvSpPr>
          <p:cNvPr id="144" name="Google Shape;144;p19"/>
          <p:cNvSpPr txBox="1"/>
          <p:nvPr/>
        </p:nvSpPr>
        <p:spPr>
          <a:xfrm>
            <a:off x="5055075" y="1442625"/>
            <a:ext cx="3000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1700">
                <a:solidFill>
                  <a:srgbClr val="222222"/>
                </a:solidFill>
                <a:highlight>
                  <a:srgbClr val="FFFFFF"/>
                </a:highlight>
              </a:rPr>
              <a:t>Transformations Applied</a:t>
            </a:r>
            <a:endParaRPr b="1" sz="1700">
              <a:solidFill>
                <a:srgbClr val="222222"/>
              </a:solidFill>
              <a:highlight>
                <a:srgbClr val="FFFFFF"/>
              </a:highlight>
            </a:endParaRPr>
          </a:p>
        </p:txBody>
      </p:sp>
      <p:sp>
        <p:nvSpPr>
          <p:cNvPr id="145" name="Google Shape;145;p19"/>
          <p:cNvSpPr txBox="1"/>
          <p:nvPr/>
        </p:nvSpPr>
        <p:spPr>
          <a:xfrm>
            <a:off x="515850" y="1400950"/>
            <a:ext cx="3000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1700">
                <a:solidFill>
                  <a:srgbClr val="222222"/>
                </a:solidFill>
                <a:highlight>
                  <a:srgbClr val="FFFFFF"/>
                </a:highlight>
              </a:rPr>
              <a:t>New Features Created</a:t>
            </a:r>
            <a:endParaRPr b="1" sz="1700">
              <a:solidFill>
                <a:srgbClr val="222222"/>
              </a:solidFill>
              <a:highlight>
                <a:srgbClr val="FFFFFF"/>
              </a:highlight>
            </a:endParaRPr>
          </a:p>
        </p:txBody>
      </p:sp>
      <p:sp>
        <p:nvSpPr>
          <p:cNvPr id="146" name="Google Shape;146;p19"/>
          <p:cNvSpPr txBox="1"/>
          <p:nvPr/>
        </p:nvSpPr>
        <p:spPr>
          <a:xfrm>
            <a:off x="589500" y="4141350"/>
            <a:ext cx="80175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222222"/>
                </a:solidFill>
                <a:highlight>
                  <a:srgbClr val="FFFFFF"/>
                </a:highlight>
              </a:rPr>
              <a:t>Why this Step?</a:t>
            </a:r>
            <a:endParaRPr b="1" sz="1700">
              <a:solidFill>
                <a:srgbClr val="222222"/>
              </a:solidFill>
              <a:highlight>
                <a:srgbClr val="FFFFFF"/>
              </a:highlight>
            </a:endParaRPr>
          </a:p>
          <a:p>
            <a:pPr indent="0" lvl="0" marL="0" rtl="0" algn="l">
              <a:spcBef>
                <a:spcPts val="0"/>
              </a:spcBef>
              <a:spcAft>
                <a:spcPts val="0"/>
              </a:spcAft>
              <a:buNone/>
            </a:pPr>
            <a:r>
              <a:rPr lang="en" sz="1700">
                <a:solidFill>
                  <a:srgbClr val="222222"/>
                </a:solidFill>
                <a:highlight>
                  <a:srgbClr val="FFFFFF"/>
                </a:highlight>
              </a:rPr>
              <a:t>Enables fair comparison across players and supports data-driven team selection</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Selection</a:t>
            </a:r>
            <a:endParaRPr/>
          </a:p>
        </p:txBody>
      </p:sp>
      <p:sp>
        <p:nvSpPr>
          <p:cNvPr id="152" name="Google Shape;152;p20"/>
          <p:cNvSpPr txBox="1"/>
          <p:nvPr/>
        </p:nvSpPr>
        <p:spPr>
          <a:xfrm>
            <a:off x="428475" y="1017800"/>
            <a:ext cx="8110200" cy="437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solidFill>
                  <a:srgbClr val="222222"/>
                </a:solidFill>
                <a:highlight>
                  <a:srgbClr val="FFFFFF"/>
                </a:highlight>
              </a:rPr>
              <a:t>Linear Programming (LPP) </a:t>
            </a:r>
            <a:endParaRPr b="1" sz="1700">
              <a:solidFill>
                <a:srgbClr val="222222"/>
              </a:solidFill>
              <a:highlight>
                <a:srgbClr val="FFFFFF"/>
              </a:highlight>
            </a:endParaRPr>
          </a:p>
          <a:p>
            <a:pPr indent="0" lvl="0" marL="0" rtl="0" algn="l">
              <a:lnSpc>
                <a:spcPct val="115000"/>
              </a:lnSpc>
              <a:spcBef>
                <a:spcPts val="1000"/>
              </a:spcBef>
              <a:spcAft>
                <a:spcPts val="0"/>
              </a:spcAft>
              <a:buNone/>
            </a:pPr>
            <a:r>
              <a:rPr lang="en" sz="1700">
                <a:solidFill>
                  <a:srgbClr val="222222"/>
                </a:solidFill>
                <a:highlight>
                  <a:srgbClr val="FFFFFF"/>
                </a:highlight>
              </a:rPr>
              <a:t>Linear Programming is a technique used to </a:t>
            </a:r>
            <a:r>
              <a:rPr b="1" lang="en" sz="1700">
                <a:solidFill>
                  <a:srgbClr val="222222"/>
                </a:solidFill>
                <a:highlight>
                  <a:srgbClr val="FFFFFF"/>
                </a:highlight>
              </a:rPr>
              <a:t>Maximize or minimize an objective function subject to constraints</a:t>
            </a:r>
            <a:endParaRPr b="1" sz="1700">
              <a:solidFill>
                <a:srgbClr val="222222"/>
              </a:solidFill>
              <a:highlight>
                <a:srgbClr val="FFFFFF"/>
              </a:highlight>
            </a:endParaRPr>
          </a:p>
          <a:p>
            <a:pPr indent="0" lvl="0" marL="0" rtl="0" algn="l">
              <a:lnSpc>
                <a:spcPct val="115000"/>
              </a:lnSpc>
              <a:spcBef>
                <a:spcPts val="1400"/>
              </a:spcBef>
              <a:spcAft>
                <a:spcPts val="0"/>
              </a:spcAft>
              <a:buNone/>
            </a:pPr>
            <a:r>
              <a:rPr b="1" lang="en" sz="1700">
                <a:solidFill>
                  <a:srgbClr val="222222"/>
                </a:solidFill>
                <a:highlight>
                  <a:srgbClr val="FFFFFF"/>
                </a:highlight>
              </a:rPr>
              <a:t>Components</a:t>
            </a:r>
            <a:endParaRPr b="1" sz="1700">
              <a:solidFill>
                <a:srgbClr val="222222"/>
              </a:solidFill>
              <a:highlight>
                <a:srgbClr val="FFFFFF"/>
              </a:highlight>
            </a:endParaRPr>
          </a:p>
          <a:p>
            <a:pPr indent="-336550" lvl="0" marL="596900" rtl="0" algn="l">
              <a:lnSpc>
                <a:spcPct val="115000"/>
              </a:lnSpc>
              <a:spcBef>
                <a:spcPts val="1000"/>
              </a:spcBef>
              <a:spcAft>
                <a:spcPts val="0"/>
              </a:spcAft>
              <a:buClr>
                <a:srgbClr val="222222"/>
              </a:buClr>
              <a:buSzPts val="1700"/>
              <a:buChar char="●"/>
            </a:pPr>
            <a:r>
              <a:rPr lang="en" sz="1700">
                <a:solidFill>
                  <a:srgbClr val="222222"/>
                </a:solidFill>
                <a:highlight>
                  <a:srgbClr val="FFFFFF"/>
                </a:highlight>
              </a:rPr>
              <a:t>Objective Function → What to maximize/minimize</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Decision Variables → What to choose</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Constraints → Budget, rules, limits</a:t>
            </a:r>
            <a:endParaRPr sz="1700">
              <a:solidFill>
                <a:srgbClr val="222222"/>
              </a:solidFill>
              <a:highlight>
                <a:srgbClr val="FFFFFF"/>
              </a:highlight>
            </a:endParaRPr>
          </a:p>
          <a:p>
            <a:pPr indent="0" lvl="0" marL="0" rtl="0" algn="l">
              <a:lnSpc>
                <a:spcPct val="115000"/>
              </a:lnSpc>
              <a:spcBef>
                <a:spcPts val="1400"/>
              </a:spcBef>
              <a:spcAft>
                <a:spcPts val="0"/>
              </a:spcAft>
              <a:buNone/>
            </a:pPr>
            <a:r>
              <a:rPr b="1" lang="en" sz="1700">
                <a:solidFill>
                  <a:srgbClr val="222222"/>
                </a:solidFill>
                <a:highlight>
                  <a:srgbClr val="FFFFFF"/>
                </a:highlight>
              </a:rPr>
              <a:t>Used in</a:t>
            </a:r>
            <a:endParaRPr b="1" sz="1700">
              <a:solidFill>
                <a:srgbClr val="222222"/>
              </a:solidFill>
              <a:highlight>
                <a:srgbClr val="FFFFFF"/>
              </a:highlight>
            </a:endParaRPr>
          </a:p>
          <a:p>
            <a:pPr indent="-336550" lvl="0" marL="596900" rtl="0" algn="l">
              <a:lnSpc>
                <a:spcPct val="115000"/>
              </a:lnSpc>
              <a:spcBef>
                <a:spcPts val="1000"/>
              </a:spcBef>
              <a:spcAft>
                <a:spcPts val="0"/>
              </a:spcAft>
              <a:buClr>
                <a:srgbClr val="222222"/>
              </a:buClr>
              <a:buSzPts val="1700"/>
              <a:buChar char="●"/>
            </a:pPr>
            <a:r>
              <a:rPr lang="en" sz="1700">
                <a:solidFill>
                  <a:srgbClr val="222222"/>
                </a:solidFill>
                <a:highlight>
                  <a:srgbClr val="FFFFFF"/>
                </a:highlight>
              </a:rPr>
              <a:t>Supply chain optimization</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Portfolio selection</a:t>
            </a:r>
            <a:endParaRPr sz="1700">
              <a:solidFill>
                <a:srgbClr val="222222"/>
              </a:solidFill>
              <a:highlight>
                <a:srgbClr val="FFFFFF"/>
              </a:highlight>
            </a:endParaRPr>
          </a:p>
          <a:p>
            <a:pPr indent="0" lvl="0" marL="0" rtl="0" algn="l">
              <a:lnSpc>
                <a:spcPct val="115000"/>
              </a:lnSpc>
              <a:spcBef>
                <a:spcPts val="1400"/>
              </a:spcBef>
              <a:spcAft>
                <a:spcPts val="400"/>
              </a:spcAft>
              <a:buNone/>
            </a:pPr>
            <a:r>
              <a:t/>
            </a:r>
            <a:endParaRPr sz="1700">
              <a:solidFill>
                <a:srgbClr val="222222"/>
              </a:solidFill>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LPP for IPL Team Selection</a:t>
            </a:r>
            <a:endParaRPr/>
          </a:p>
        </p:txBody>
      </p:sp>
      <p:sp>
        <p:nvSpPr>
          <p:cNvPr id="158" name="Google Shape;158;p21"/>
          <p:cNvSpPr txBox="1"/>
          <p:nvPr/>
        </p:nvSpPr>
        <p:spPr>
          <a:xfrm>
            <a:off x="479350" y="1098525"/>
            <a:ext cx="4572000" cy="417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solidFill>
                  <a:srgbClr val="222222"/>
                </a:solidFill>
                <a:highlight>
                  <a:srgbClr val="FFFFFF"/>
                </a:highlight>
              </a:rPr>
              <a:t>Reasons for Choosing LPP</a:t>
            </a:r>
            <a:endParaRPr b="1" sz="1700">
              <a:solidFill>
                <a:srgbClr val="222222"/>
              </a:solidFill>
              <a:highlight>
                <a:srgbClr val="FFFFFF"/>
              </a:highlight>
            </a:endParaRPr>
          </a:p>
          <a:p>
            <a:pPr indent="-336550" lvl="0" marL="457200" rtl="0" algn="l">
              <a:lnSpc>
                <a:spcPct val="115000"/>
              </a:lnSpc>
              <a:spcBef>
                <a:spcPts val="1400"/>
              </a:spcBef>
              <a:spcAft>
                <a:spcPts val="0"/>
              </a:spcAft>
              <a:buClr>
                <a:srgbClr val="222222"/>
              </a:buClr>
              <a:buSzPts val="1700"/>
              <a:buAutoNum type="arabicPeriod"/>
            </a:pPr>
            <a:r>
              <a:rPr b="1" lang="en" sz="1700">
                <a:solidFill>
                  <a:srgbClr val="222222"/>
                </a:solidFill>
                <a:highlight>
                  <a:srgbClr val="FFFFFF"/>
                </a:highlight>
              </a:rPr>
              <a:t> </a:t>
            </a:r>
            <a:r>
              <a:rPr lang="en" sz="1700">
                <a:solidFill>
                  <a:srgbClr val="222222"/>
                </a:solidFill>
                <a:highlight>
                  <a:srgbClr val="FFFFFF"/>
                </a:highlight>
              </a:rPr>
              <a:t>Budget restriction (price constraint)</a:t>
            </a:r>
            <a:endParaRPr sz="1700">
              <a:solidFill>
                <a:srgbClr val="222222"/>
              </a:solidFill>
              <a:highlight>
                <a:srgbClr val="FFFFFF"/>
              </a:highlight>
            </a:endParaRPr>
          </a:p>
          <a:p>
            <a:pPr indent="-336550" lvl="0" marL="4572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 Fixed team size</a:t>
            </a:r>
            <a:endParaRPr sz="1700">
              <a:solidFill>
                <a:srgbClr val="222222"/>
              </a:solidFill>
              <a:highlight>
                <a:srgbClr val="FFFFFF"/>
              </a:highlight>
            </a:endParaRPr>
          </a:p>
          <a:p>
            <a:pPr indent="-336550" lvl="0" marL="4572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 Role composition rules</a:t>
            </a:r>
            <a:endParaRPr sz="1700">
              <a:solidFill>
                <a:srgbClr val="222222"/>
              </a:solidFill>
              <a:highlight>
                <a:srgbClr val="FFFFFF"/>
              </a:highlight>
            </a:endParaRPr>
          </a:p>
          <a:p>
            <a:pPr indent="-336550" lvl="0" marL="4572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 Need maximum total performance</a:t>
            </a:r>
            <a:endParaRPr sz="1700">
              <a:solidFill>
                <a:srgbClr val="222222"/>
              </a:solidFill>
              <a:highlight>
                <a:srgbClr val="FFFFFF"/>
              </a:highlight>
            </a:endParaRPr>
          </a:p>
          <a:p>
            <a:pPr indent="-336550" lvl="0" marL="4572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 Many combinations (millions possible)</a:t>
            </a:r>
            <a:endParaRPr sz="1700">
              <a:solidFill>
                <a:srgbClr val="222222"/>
              </a:solidFill>
              <a:highlight>
                <a:srgbClr val="FFFFFF"/>
              </a:highlight>
            </a:endParaRPr>
          </a:p>
          <a:p>
            <a:pPr indent="0" lvl="0" marL="0" rtl="0" algn="l">
              <a:lnSpc>
                <a:spcPct val="115000"/>
              </a:lnSpc>
              <a:spcBef>
                <a:spcPts val="1400"/>
              </a:spcBef>
              <a:spcAft>
                <a:spcPts val="0"/>
              </a:spcAft>
              <a:buNone/>
            </a:pPr>
            <a:r>
              <a:rPr b="1" lang="en" sz="1700">
                <a:solidFill>
                  <a:srgbClr val="222222"/>
                </a:solidFill>
                <a:highlight>
                  <a:srgbClr val="FFFFFF"/>
                </a:highlight>
              </a:rPr>
              <a:t>Without LPP</a:t>
            </a:r>
            <a:endParaRPr b="1" sz="1700">
              <a:solidFill>
                <a:srgbClr val="222222"/>
              </a:solidFill>
              <a:highlight>
                <a:srgbClr val="FFFFFF"/>
              </a:highlight>
            </a:endParaRPr>
          </a:p>
          <a:p>
            <a:pPr indent="-336550" lvl="0" marL="457200" rtl="0" algn="l">
              <a:lnSpc>
                <a:spcPct val="115000"/>
              </a:lnSpc>
              <a:spcBef>
                <a:spcPts val="1400"/>
              </a:spcBef>
              <a:spcAft>
                <a:spcPts val="0"/>
              </a:spcAft>
              <a:buClr>
                <a:srgbClr val="222222"/>
              </a:buClr>
              <a:buSzPts val="1700"/>
              <a:buAutoNum type="arabicPeriod"/>
            </a:pPr>
            <a:r>
              <a:rPr lang="en" sz="1700">
                <a:solidFill>
                  <a:srgbClr val="222222"/>
                </a:solidFill>
                <a:highlight>
                  <a:srgbClr val="FFFFFF"/>
                </a:highlight>
              </a:rPr>
              <a:t>Manual trial &amp; error</a:t>
            </a:r>
            <a:endParaRPr sz="1700">
              <a:solidFill>
                <a:srgbClr val="222222"/>
              </a:solidFill>
              <a:highlight>
                <a:srgbClr val="FFFFFF"/>
              </a:highlight>
            </a:endParaRPr>
          </a:p>
          <a:p>
            <a:pPr indent="-336550" lvl="0" marL="4572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Time consuming</a:t>
            </a:r>
            <a:endParaRPr sz="1700">
              <a:solidFill>
                <a:srgbClr val="222222"/>
              </a:solidFill>
              <a:highlight>
                <a:srgbClr val="FFFFFF"/>
              </a:highlight>
            </a:endParaRPr>
          </a:p>
          <a:p>
            <a:pPr indent="-336550" lvl="0" marL="4572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Sub-optimal team</a:t>
            </a:r>
            <a:endParaRPr sz="1700">
              <a:solidFill>
                <a:srgbClr val="222222"/>
              </a:solidFill>
              <a:highlight>
                <a:srgbClr val="FFFFFF"/>
              </a:highlight>
            </a:endParaRPr>
          </a:p>
          <a:p>
            <a:pPr indent="0" lvl="0" marL="0" rtl="0" algn="l">
              <a:lnSpc>
                <a:spcPct val="115000"/>
              </a:lnSpc>
              <a:spcBef>
                <a:spcPts val="1400"/>
              </a:spcBef>
              <a:spcAft>
                <a:spcPts val="400"/>
              </a:spcAft>
              <a:buNone/>
            </a:pPr>
            <a:r>
              <a:t/>
            </a:r>
            <a:endParaRPr sz="1700">
              <a:solidFill>
                <a:srgbClr val="222222"/>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type="title"/>
          </p:nvPr>
        </p:nvSpPr>
        <p:spPr>
          <a:xfrm>
            <a:off x="311700" y="2674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Inputs</a:t>
            </a:r>
            <a:endParaRPr/>
          </a:p>
        </p:txBody>
      </p:sp>
      <p:sp>
        <p:nvSpPr>
          <p:cNvPr id="164" name="Google Shape;164;p22"/>
          <p:cNvSpPr txBox="1"/>
          <p:nvPr/>
        </p:nvSpPr>
        <p:spPr>
          <a:xfrm>
            <a:off x="699625" y="1017800"/>
            <a:ext cx="5972700" cy="411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solidFill>
                  <a:srgbClr val="222222"/>
                </a:solidFill>
                <a:highlight>
                  <a:srgbClr val="FFFFFF"/>
                </a:highlight>
              </a:rPr>
              <a:t>Player Features</a:t>
            </a:r>
            <a:endParaRPr b="1">
              <a:solidFill>
                <a:srgbClr val="222222"/>
              </a:solidFill>
              <a:highlight>
                <a:srgbClr val="FFFFFF"/>
              </a:highlight>
            </a:endParaRPr>
          </a:p>
          <a:p>
            <a:pPr indent="-317500" lvl="0" marL="596900" rtl="0" algn="l">
              <a:lnSpc>
                <a:spcPct val="115000"/>
              </a:lnSpc>
              <a:spcBef>
                <a:spcPts val="1000"/>
              </a:spcBef>
              <a:spcAft>
                <a:spcPts val="0"/>
              </a:spcAft>
              <a:buClr>
                <a:srgbClr val="222222"/>
              </a:buClr>
              <a:buSzPts val="1400"/>
              <a:buChar char="●"/>
            </a:pPr>
            <a:r>
              <a:rPr lang="en">
                <a:solidFill>
                  <a:srgbClr val="222222"/>
                </a:solidFill>
                <a:highlight>
                  <a:srgbClr val="FFFFFF"/>
                </a:highlight>
              </a:rPr>
              <a:t>Final_Player_Score (Impact Score)</a:t>
            </a:r>
            <a:endParaRPr>
              <a:solidFill>
                <a:srgbClr val="222222"/>
              </a:solidFill>
              <a:highlight>
                <a:srgbClr val="FFFFFF"/>
              </a:highlight>
            </a:endParaRPr>
          </a:p>
          <a:p>
            <a:pPr indent="-317500" lvl="0" marL="596900" rtl="0" algn="l">
              <a:lnSpc>
                <a:spcPct val="115000"/>
              </a:lnSpc>
              <a:spcBef>
                <a:spcPts val="0"/>
              </a:spcBef>
              <a:spcAft>
                <a:spcPts val="0"/>
              </a:spcAft>
              <a:buClr>
                <a:srgbClr val="222222"/>
              </a:buClr>
              <a:buSzPts val="1400"/>
              <a:buChar char="●"/>
            </a:pPr>
            <a:r>
              <a:rPr lang="en">
                <a:solidFill>
                  <a:srgbClr val="222222"/>
                </a:solidFill>
                <a:highlight>
                  <a:srgbClr val="FFFFFF"/>
                </a:highlight>
              </a:rPr>
              <a:t>Sold_Price</a:t>
            </a:r>
            <a:endParaRPr>
              <a:solidFill>
                <a:srgbClr val="222222"/>
              </a:solidFill>
              <a:highlight>
                <a:srgbClr val="FFFFFF"/>
              </a:highlight>
            </a:endParaRPr>
          </a:p>
          <a:p>
            <a:pPr indent="-317500" lvl="0" marL="596900" rtl="0" algn="l">
              <a:lnSpc>
                <a:spcPct val="115000"/>
              </a:lnSpc>
              <a:spcBef>
                <a:spcPts val="0"/>
              </a:spcBef>
              <a:spcAft>
                <a:spcPts val="0"/>
              </a:spcAft>
              <a:buClr>
                <a:srgbClr val="222222"/>
              </a:buClr>
              <a:buSzPts val="1400"/>
              <a:buChar char="●"/>
            </a:pPr>
            <a:r>
              <a:rPr lang="en">
                <a:solidFill>
                  <a:srgbClr val="222222"/>
                </a:solidFill>
                <a:highlight>
                  <a:srgbClr val="FFFFFF"/>
                </a:highlight>
              </a:rPr>
              <a:t>Role flags (BAT/BOWL/AR/WK)</a:t>
            </a:r>
            <a:endParaRPr>
              <a:solidFill>
                <a:srgbClr val="222222"/>
              </a:solidFill>
              <a:highlight>
                <a:srgbClr val="FFFFFF"/>
              </a:highlight>
            </a:endParaRPr>
          </a:p>
          <a:p>
            <a:pPr indent="0" lvl="0" marL="0" rtl="0" algn="l">
              <a:lnSpc>
                <a:spcPct val="115000"/>
              </a:lnSpc>
              <a:spcBef>
                <a:spcPts val="1400"/>
              </a:spcBef>
              <a:spcAft>
                <a:spcPts val="0"/>
              </a:spcAft>
              <a:buNone/>
            </a:pPr>
            <a:r>
              <a:rPr b="1" lang="en">
                <a:solidFill>
                  <a:srgbClr val="222222"/>
                </a:solidFill>
                <a:highlight>
                  <a:srgbClr val="FFFFFF"/>
                </a:highlight>
              </a:rPr>
              <a:t>Derived Columns</a:t>
            </a:r>
            <a:endParaRPr b="1">
              <a:solidFill>
                <a:srgbClr val="222222"/>
              </a:solidFill>
              <a:highlight>
                <a:srgbClr val="FFFFFF"/>
              </a:highlight>
            </a:endParaRPr>
          </a:p>
          <a:p>
            <a:pPr indent="-317500" lvl="0" marL="596900" rtl="0" algn="l">
              <a:lnSpc>
                <a:spcPct val="115000"/>
              </a:lnSpc>
              <a:spcBef>
                <a:spcPts val="1000"/>
              </a:spcBef>
              <a:spcAft>
                <a:spcPts val="0"/>
              </a:spcAft>
              <a:buClr>
                <a:srgbClr val="222222"/>
              </a:buClr>
              <a:buSzPts val="1400"/>
              <a:buChar char="●"/>
            </a:pPr>
            <a:r>
              <a:rPr lang="en">
                <a:solidFill>
                  <a:srgbClr val="222222"/>
                </a:solidFill>
                <a:highlight>
                  <a:srgbClr val="FFFFFF"/>
                </a:highlight>
              </a:rPr>
              <a:t>Is_Batsman</a:t>
            </a:r>
            <a:endParaRPr>
              <a:solidFill>
                <a:srgbClr val="222222"/>
              </a:solidFill>
              <a:highlight>
                <a:srgbClr val="FFFFFF"/>
              </a:highlight>
            </a:endParaRPr>
          </a:p>
          <a:p>
            <a:pPr indent="-317500" lvl="0" marL="596900" rtl="0" algn="l">
              <a:lnSpc>
                <a:spcPct val="115000"/>
              </a:lnSpc>
              <a:spcBef>
                <a:spcPts val="0"/>
              </a:spcBef>
              <a:spcAft>
                <a:spcPts val="0"/>
              </a:spcAft>
              <a:buClr>
                <a:srgbClr val="222222"/>
              </a:buClr>
              <a:buSzPts val="1400"/>
              <a:buChar char="●"/>
            </a:pPr>
            <a:r>
              <a:rPr lang="en">
                <a:solidFill>
                  <a:srgbClr val="222222"/>
                </a:solidFill>
                <a:highlight>
                  <a:srgbClr val="FFFFFF"/>
                </a:highlight>
              </a:rPr>
              <a:t>Is_Bowler</a:t>
            </a:r>
            <a:endParaRPr>
              <a:solidFill>
                <a:srgbClr val="222222"/>
              </a:solidFill>
              <a:highlight>
                <a:srgbClr val="FFFFFF"/>
              </a:highlight>
            </a:endParaRPr>
          </a:p>
          <a:p>
            <a:pPr indent="-317500" lvl="0" marL="596900" rtl="0" algn="l">
              <a:lnSpc>
                <a:spcPct val="115000"/>
              </a:lnSpc>
              <a:spcBef>
                <a:spcPts val="0"/>
              </a:spcBef>
              <a:spcAft>
                <a:spcPts val="0"/>
              </a:spcAft>
              <a:buClr>
                <a:srgbClr val="222222"/>
              </a:buClr>
              <a:buSzPts val="1400"/>
              <a:buChar char="●"/>
            </a:pPr>
            <a:r>
              <a:rPr lang="en">
                <a:solidFill>
                  <a:srgbClr val="222222"/>
                </a:solidFill>
                <a:highlight>
                  <a:srgbClr val="FFFFFF"/>
                </a:highlight>
              </a:rPr>
              <a:t>Is_AllRounder</a:t>
            </a:r>
            <a:endParaRPr>
              <a:solidFill>
                <a:srgbClr val="222222"/>
              </a:solidFill>
              <a:highlight>
                <a:srgbClr val="FFFFFF"/>
              </a:highlight>
            </a:endParaRPr>
          </a:p>
          <a:p>
            <a:pPr indent="-317500" lvl="0" marL="596900" rtl="0" algn="l">
              <a:lnSpc>
                <a:spcPct val="115000"/>
              </a:lnSpc>
              <a:spcBef>
                <a:spcPts val="0"/>
              </a:spcBef>
              <a:spcAft>
                <a:spcPts val="0"/>
              </a:spcAft>
              <a:buClr>
                <a:srgbClr val="222222"/>
              </a:buClr>
              <a:buSzPts val="1400"/>
              <a:buChar char="●"/>
            </a:pPr>
            <a:r>
              <a:rPr lang="en">
                <a:solidFill>
                  <a:srgbClr val="222222"/>
                </a:solidFill>
                <a:highlight>
                  <a:srgbClr val="FFFFFF"/>
                </a:highlight>
              </a:rPr>
              <a:t>Is_WicketKeeper</a:t>
            </a:r>
            <a:endParaRPr>
              <a:solidFill>
                <a:srgbClr val="222222"/>
              </a:solidFill>
              <a:highlight>
                <a:srgbClr val="FFFFFF"/>
              </a:highlight>
            </a:endParaRPr>
          </a:p>
          <a:p>
            <a:pPr indent="0" lvl="0" marL="0" rtl="0" algn="l">
              <a:lnSpc>
                <a:spcPct val="115000"/>
              </a:lnSpc>
              <a:spcBef>
                <a:spcPts val="1400"/>
              </a:spcBef>
              <a:spcAft>
                <a:spcPts val="0"/>
              </a:spcAft>
              <a:buNone/>
            </a:pPr>
            <a:r>
              <a:rPr b="1" lang="en">
                <a:solidFill>
                  <a:srgbClr val="222222"/>
                </a:solidFill>
                <a:highlight>
                  <a:srgbClr val="FFFFFF"/>
                </a:highlight>
              </a:rPr>
              <a:t>Interpretation</a:t>
            </a:r>
            <a:endParaRPr b="1">
              <a:solidFill>
                <a:srgbClr val="222222"/>
              </a:solidFill>
              <a:highlight>
                <a:srgbClr val="FFFFFF"/>
              </a:highlight>
            </a:endParaRPr>
          </a:p>
          <a:p>
            <a:pPr indent="-317500" lvl="0" marL="596900" rtl="0" algn="l">
              <a:lnSpc>
                <a:spcPct val="115000"/>
              </a:lnSpc>
              <a:spcBef>
                <a:spcPts val="1000"/>
              </a:spcBef>
              <a:spcAft>
                <a:spcPts val="0"/>
              </a:spcAft>
              <a:buClr>
                <a:srgbClr val="222222"/>
              </a:buClr>
              <a:buSzPts val="1400"/>
              <a:buChar char="●"/>
            </a:pPr>
            <a:r>
              <a:rPr lang="en">
                <a:solidFill>
                  <a:srgbClr val="222222"/>
                </a:solidFill>
                <a:highlight>
                  <a:srgbClr val="FFFFFF"/>
                </a:highlight>
              </a:rPr>
              <a:t>Score → Performance contribution</a:t>
            </a:r>
            <a:endParaRPr>
              <a:solidFill>
                <a:srgbClr val="222222"/>
              </a:solidFill>
              <a:highlight>
                <a:srgbClr val="FFFFFF"/>
              </a:highlight>
            </a:endParaRPr>
          </a:p>
          <a:p>
            <a:pPr indent="-317500" lvl="0" marL="596900" rtl="0" algn="l">
              <a:lnSpc>
                <a:spcPct val="115000"/>
              </a:lnSpc>
              <a:spcBef>
                <a:spcPts val="0"/>
              </a:spcBef>
              <a:spcAft>
                <a:spcPts val="0"/>
              </a:spcAft>
              <a:buClr>
                <a:srgbClr val="222222"/>
              </a:buClr>
              <a:buSzPts val="1400"/>
              <a:buChar char="●"/>
            </a:pPr>
            <a:r>
              <a:rPr lang="en">
                <a:solidFill>
                  <a:srgbClr val="222222"/>
                </a:solidFill>
                <a:highlight>
                  <a:srgbClr val="FFFFFF"/>
                </a:highlight>
              </a:rPr>
              <a:t>Price → Cost</a:t>
            </a:r>
            <a:endParaRPr>
              <a:solidFill>
                <a:srgbClr val="222222"/>
              </a:solidFill>
              <a:highlight>
                <a:srgbClr val="FFFFFF"/>
              </a:highlight>
            </a:endParaRPr>
          </a:p>
          <a:p>
            <a:pPr indent="-317500" lvl="0" marL="596900" rtl="0" algn="l">
              <a:lnSpc>
                <a:spcPct val="115000"/>
              </a:lnSpc>
              <a:spcBef>
                <a:spcPts val="0"/>
              </a:spcBef>
              <a:spcAft>
                <a:spcPts val="0"/>
              </a:spcAft>
              <a:buClr>
                <a:srgbClr val="222222"/>
              </a:buClr>
              <a:buSzPts val="1400"/>
              <a:buChar char="●"/>
            </a:pPr>
            <a:r>
              <a:rPr lang="en">
                <a:solidFill>
                  <a:srgbClr val="222222"/>
                </a:solidFill>
                <a:highlight>
                  <a:srgbClr val="FFFFFF"/>
                </a:highlight>
              </a:rPr>
              <a:t>Flags → Role eligibility</a:t>
            </a:r>
            <a:endParaRPr>
              <a:solidFill>
                <a:srgbClr val="222222"/>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Workflow</a:t>
            </a:r>
            <a:endParaRPr/>
          </a:p>
        </p:txBody>
      </p:sp>
      <p:sp>
        <p:nvSpPr>
          <p:cNvPr id="170" name="Google Shape;170;p23"/>
          <p:cNvSpPr txBox="1"/>
          <p:nvPr/>
        </p:nvSpPr>
        <p:spPr>
          <a:xfrm>
            <a:off x="595975" y="1224125"/>
            <a:ext cx="5610000" cy="358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700"/>
              <a:t>Step-by-Step Process</a:t>
            </a:r>
            <a:endParaRPr b="1" sz="1700"/>
          </a:p>
          <a:p>
            <a:pPr indent="-336550" lvl="0" marL="457200" rtl="0" algn="l">
              <a:lnSpc>
                <a:spcPct val="150000"/>
              </a:lnSpc>
              <a:spcBef>
                <a:spcPts val="0"/>
              </a:spcBef>
              <a:spcAft>
                <a:spcPts val="0"/>
              </a:spcAft>
              <a:buSzPts val="1700"/>
              <a:buChar char="●"/>
            </a:pPr>
            <a:r>
              <a:rPr lang="en" sz="1700"/>
              <a:t> Clean dataset</a:t>
            </a:r>
            <a:endParaRPr sz="1700"/>
          </a:p>
          <a:p>
            <a:pPr indent="-336550" lvl="0" marL="457200" rtl="0" algn="l">
              <a:lnSpc>
                <a:spcPct val="150000"/>
              </a:lnSpc>
              <a:spcBef>
                <a:spcPts val="0"/>
              </a:spcBef>
              <a:spcAft>
                <a:spcPts val="0"/>
              </a:spcAft>
              <a:buSzPts val="1700"/>
              <a:buChar char="●"/>
            </a:pPr>
            <a:r>
              <a:rPr lang="en" sz="1700"/>
              <a:t> Compute Impact Scores</a:t>
            </a:r>
            <a:endParaRPr sz="1700"/>
          </a:p>
          <a:p>
            <a:pPr indent="-336550" lvl="0" marL="457200" rtl="0" algn="l">
              <a:lnSpc>
                <a:spcPct val="150000"/>
              </a:lnSpc>
              <a:spcBef>
                <a:spcPts val="0"/>
              </a:spcBef>
              <a:spcAft>
                <a:spcPts val="0"/>
              </a:spcAft>
              <a:buSzPts val="1700"/>
              <a:buChar char="●"/>
            </a:pPr>
            <a:r>
              <a:rPr lang="en" sz="1700"/>
              <a:t> Create Final_Player_Score</a:t>
            </a:r>
            <a:endParaRPr sz="1700"/>
          </a:p>
          <a:p>
            <a:pPr indent="-336550" lvl="0" marL="457200" rtl="0" algn="l">
              <a:lnSpc>
                <a:spcPct val="150000"/>
              </a:lnSpc>
              <a:spcBef>
                <a:spcPts val="0"/>
              </a:spcBef>
              <a:spcAft>
                <a:spcPts val="0"/>
              </a:spcAft>
              <a:buSzPts val="1700"/>
              <a:buChar char="●"/>
            </a:pPr>
            <a:r>
              <a:rPr lang="en" sz="1700"/>
              <a:t> Build Linear Programming   model</a:t>
            </a:r>
            <a:endParaRPr sz="1700"/>
          </a:p>
          <a:p>
            <a:pPr indent="-336550" lvl="0" marL="457200" rtl="0" algn="l">
              <a:lnSpc>
                <a:spcPct val="150000"/>
              </a:lnSpc>
              <a:spcBef>
                <a:spcPts val="0"/>
              </a:spcBef>
              <a:spcAft>
                <a:spcPts val="0"/>
              </a:spcAft>
              <a:buSzPts val="1700"/>
              <a:buChar char="●"/>
            </a:pPr>
            <a:r>
              <a:rPr lang="en" sz="1700"/>
              <a:t> Apply constraints</a:t>
            </a:r>
            <a:endParaRPr sz="1700"/>
          </a:p>
          <a:p>
            <a:pPr indent="-336550" lvl="0" marL="457200" rtl="0" algn="l">
              <a:lnSpc>
                <a:spcPct val="150000"/>
              </a:lnSpc>
              <a:spcBef>
                <a:spcPts val="0"/>
              </a:spcBef>
              <a:spcAft>
                <a:spcPts val="0"/>
              </a:spcAft>
              <a:buSzPts val="1700"/>
              <a:buChar char="●"/>
            </a:pPr>
            <a:r>
              <a:rPr lang="en" sz="1700"/>
              <a:t> Solve using PuLP solver</a:t>
            </a:r>
            <a:endParaRPr sz="1700"/>
          </a:p>
          <a:p>
            <a:pPr indent="-336550" lvl="0" marL="457200" rtl="0" algn="l">
              <a:lnSpc>
                <a:spcPct val="150000"/>
              </a:lnSpc>
              <a:spcBef>
                <a:spcPts val="0"/>
              </a:spcBef>
              <a:spcAft>
                <a:spcPts val="0"/>
              </a:spcAft>
              <a:buSzPts val="1700"/>
              <a:buChar char="●"/>
            </a:pPr>
            <a:r>
              <a:rPr lang="en" sz="1700"/>
              <a:t> Get optimal squad</a:t>
            </a:r>
            <a:endParaRPr sz="1700"/>
          </a:p>
          <a:p>
            <a:pPr indent="-336550" lvl="0" marL="457200" rtl="0" algn="l">
              <a:lnSpc>
                <a:spcPct val="150000"/>
              </a:lnSpc>
              <a:spcBef>
                <a:spcPts val="0"/>
              </a:spcBef>
              <a:spcAft>
                <a:spcPts val="0"/>
              </a:spcAft>
              <a:buSzPts val="1700"/>
              <a:buChar char="●"/>
            </a:pPr>
            <a:r>
              <a:rPr lang="en" sz="1700"/>
              <a:t> Select best Dream11 XI</a:t>
            </a:r>
            <a:endParaRPr sz="17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performance score concept</a:t>
            </a:r>
            <a:endParaRPr/>
          </a:p>
        </p:txBody>
      </p:sp>
      <p:sp>
        <p:nvSpPr>
          <p:cNvPr id="176" name="Google Shape;176;p24"/>
          <p:cNvSpPr txBox="1"/>
          <p:nvPr/>
        </p:nvSpPr>
        <p:spPr>
          <a:xfrm>
            <a:off x="604250" y="1252625"/>
            <a:ext cx="8228100" cy="311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solidFill>
                  <a:srgbClr val="222222"/>
                </a:solidFill>
                <a:highlight>
                  <a:srgbClr val="FFFFFF"/>
                </a:highlight>
              </a:rPr>
              <a:t>Objective</a:t>
            </a:r>
            <a:endParaRPr b="1" sz="1700">
              <a:solidFill>
                <a:srgbClr val="222222"/>
              </a:solidFill>
              <a:highlight>
                <a:srgbClr val="FFFFFF"/>
              </a:highlight>
            </a:endParaRPr>
          </a:p>
          <a:p>
            <a:pPr indent="0" lvl="0" marL="0" rtl="0" algn="l">
              <a:lnSpc>
                <a:spcPct val="115000"/>
              </a:lnSpc>
              <a:spcBef>
                <a:spcPts val="1000"/>
              </a:spcBef>
              <a:spcAft>
                <a:spcPts val="0"/>
              </a:spcAft>
              <a:buNone/>
            </a:pPr>
            <a:r>
              <a:rPr lang="en" sz="1700">
                <a:solidFill>
                  <a:srgbClr val="222222"/>
                </a:solidFill>
                <a:highlight>
                  <a:srgbClr val="FFFFFF"/>
                </a:highlight>
              </a:rPr>
              <a:t>Evaluate players </a:t>
            </a:r>
            <a:r>
              <a:rPr b="1" lang="en" sz="1700">
                <a:solidFill>
                  <a:srgbClr val="222222"/>
                </a:solidFill>
                <a:highlight>
                  <a:srgbClr val="FFFFFF"/>
                </a:highlight>
              </a:rPr>
              <a:t>within their specific roles</a:t>
            </a:r>
            <a:r>
              <a:rPr lang="en" sz="1700">
                <a:solidFill>
                  <a:srgbClr val="222222"/>
                </a:solidFill>
                <a:highlight>
                  <a:srgbClr val="FFFFFF"/>
                </a:highlight>
              </a:rPr>
              <a:t> using cricket-relevant performance metrics.</a:t>
            </a:r>
            <a:endParaRPr sz="1700">
              <a:solidFill>
                <a:srgbClr val="222222"/>
              </a:solidFill>
              <a:highlight>
                <a:srgbClr val="FFFFFF"/>
              </a:highlight>
            </a:endParaRPr>
          </a:p>
          <a:p>
            <a:pPr indent="0" lvl="0" marL="0" rtl="0" algn="l">
              <a:lnSpc>
                <a:spcPct val="115000"/>
              </a:lnSpc>
              <a:spcBef>
                <a:spcPts val="1400"/>
              </a:spcBef>
              <a:spcAft>
                <a:spcPts val="0"/>
              </a:spcAft>
              <a:buNone/>
            </a:pPr>
            <a:r>
              <a:rPr b="1" lang="en" sz="1700">
                <a:solidFill>
                  <a:srgbClr val="222222"/>
                </a:solidFill>
                <a:highlight>
                  <a:srgbClr val="FFFFFF"/>
                </a:highlight>
              </a:rPr>
              <a:t>Why Role-Based?</a:t>
            </a:r>
            <a:endParaRPr b="1" sz="1700">
              <a:solidFill>
                <a:srgbClr val="222222"/>
              </a:solidFill>
              <a:highlight>
                <a:srgbClr val="FFFFFF"/>
              </a:highlight>
            </a:endParaRPr>
          </a:p>
          <a:p>
            <a:pPr indent="-336550" lvl="0" marL="596900" rtl="0" algn="l">
              <a:lnSpc>
                <a:spcPct val="115000"/>
              </a:lnSpc>
              <a:spcBef>
                <a:spcPts val="1000"/>
              </a:spcBef>
              <a:spcAft>
                <a:spcPts val="0"/>
              </a:spcAft>
              <a:buClr>
                <a:srgbClr val="222222"/>
              </a:buClr>
              <a:buSzPts val="1700"/>
              <a:buChar char="●"/>
            </a:pPr>
            <a:r>
              <a:rPr lang="en" sz="1700">
                <a:solidFill>
                  <a:srgbClr val="222222"/>
                </a:solidFill>
                <a:highlight>
                  <a:srgbClr val="FFFFFF"/>
                </a:highlight>
              </a:rPr>
              <a:t>Batsmen, Bowlers, All-Rounders, and Wicket-Keepers contribute differently</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Same metrics cannot measure all roles fairly</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Separate evaluation improves accuracy</a:t>
            </a:r>
            <a:endParaRPr sz="1700">
              <a:solidFill>
                <a:srgbClr val="222222"/>
              </a:solidFill>
              <a:highlight>
                <a:srgbClr val="FFFFFF"/>
              </a:highlight>
            </a:endParaRPr>
          </a:p>
          <a:p>
            <a:pPr indent="0" lvl="0" marL="457200" rtl="0" algn="l">
              <a:lnSpc>
                <a:spcPct val="115000"/>
              </a:lnSpc>
              <a:spcBef>
                <a:spcPts val="1000"/>
              </a:spcBef>
              <a:spcAft>
                <a:spcPts val="1000"/>
              </a:spcAft>
              <a:buNone/>
            </a:pPr>
            <a:r>
              <a:t/>
            </a:r>
            <a:endParaRPr b="1" sz="1700">
              <a:solidFill>
                <a:srgbClr val="222222"/>
              </a:solidFill>
              <a:highlight>
                <a:srgbClr val="FFFFFF"/>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nvSpPr>
        <p:spPr>
          <a:xfrm>
            <a:off x="560025" y="867025"/>
            <a:ext cx="7693200" cy="263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solidFill>
                  <a:srgbClr val="222222"/>
                </a:solidFill>
                <a:highlight>
                  <a:srgbClr val="FFFFFF"/>
                </a:highlight>
              </a:rPr>
              <a:t>Approach</a:t>
            </a:r>
            <a:endParaRPr b="1" sz="1700">
              <a:solidFill>
                <a:srgbClr val="222222"/>
              </a:solidFill>
              <a:highlight>
                <a:srgbClr val="FFFFFF"/>
              </a:highlight>
            </a:endParaRPr>
          </a:p>
          <a:p>
            <a:pPr indent="-336550" lvl="0" marL="596900" rtl="0" algn="l">
              <a:lnSpc>
                <a:spcPct val="115000"/>
              </a:lnSpc>
              <a:spcBef>
                <a:spcPts val="1000"/>
              </a:spcBef>
              <a:spcAft>
                <a:spcPts val="0"/>
              </a:spcAft>
              <a:buClr>
                <a:srgbClr val="222222"/>
              </a:buClr>
              <a:buSzPts val="1700"/>
              <a:buChar char="●"/>
            </a:pPr>
            <a:r>
              <a:rPr lang="en" sz="1700">
                <a:solidFill>
                  <a:srgbClr val="222222"/>
                </a:solidFill>
                <a:highlight>
                  <a:srgbClr val="FFFFFF"/>
                </a:highlight>
              </a:rPr>
              <a:t>Role-specific features selected</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Linear Programming optimized weights</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Final score = weighted sum of features</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Used as objective function in squad selection</a:t>
            </a:r>
            <a:endParaRPr sz="1700">
              <a:solidFill>
                <a:srgbClr val="222222"/>
              </a:solidFill>
              <a:highlight>
                <a:srgbClr val="FFFFFF"/>
              </a:highlight>
            </a:endParaRPr>
          </a:p>
          <a:p>
            <a:pPr indent="0" lvl="0" marL="457200" rtl="0" algn="l">
              <a:lnSpc>
                <a:spcPct val="115000"/>
              </a:lnSpc>
              <a:spcBef>
                <a:spcPts val="1000"/>
              </a:spcBef>
              <a:spcAft>
                <a:spcPts val="0"/>
              </a:spcAft>
              <a:buNone/>
            </a:pPr>
            <a:r>
              <a:t/>
            </a:r>
            <a:endParaRPr sz="1700">
              <a:solidFill>
                <a:srgbClr val="222222"/>
              </a:solidFill>
              <a:highlight>
                <a:srgbClr val="FFFFFF"/>
              </a:highlight>
            </a:endParaRPr>
          </a:p>
          <a:p>
            <a:pPr indent="0" lvl="0" marL="0" rtl="0" algn="l">
              <a:lnSpc>
                <a:spcPct val="115000"/>
              </a:lnSpc>
              <a:spcBef>
                <a:spcPts val="1000"/>
              </a:spcBef>
              <a:spcAft>
                <a:spcPts val="1000"/>
              </a:spcAft>
              <a:buNone/>
            </a:pPr>
            <a:r>
              <a:rPr lang="en" sz="1700">
                <a:solidFill>
                  <a:srgbClr val="222222"/>
                </a:solidFill>
                <a:highlight>
                  <a:srgbClr val="FFFFFF"/>
                </a:highlight>
              </a:rPr>
              <a:t>This converts multi-dimensional performance into a </a:t>
            </a:r>
            <a:r>
              <a:rPr b="1" lang="en" sz="1700">
                <a:solidFill>
                  <a:srgbClr val="222222"/>
                </a:solidFill>
                <a:highlight>
                  <a:srgbClr val="FFFFFF"/>
                </a:highlight>
              </a:rPr>
              <a:t>single comparable score</a:t>
            </a:r>
            <a:endParaRPr sz="1700">
              <a:solidFill>
                <a:srgbClr val="222222"/>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LPP-Based weight Optimization &amp; Score Calculation</a:t>
            </a:r>
            <a:endParaRPr sz="2500"/>
          </a:p>
        </p:txBody>
      </p:sp>
      <p:sp>
        <p:nvSpPr>
          <p:cNvPr id="187" name="Google Shape;187;p26"/>
          <p:cNvSpPr txBox="1"/>
          <p:nvPr/>
        </p:nvSpPr>
        <p:spPr>
          <a:xfrm>
            <a:off x="453450" y="1150096"/>
            <a:ext cx="79290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700"/>
          </a:p>
          <a:p>
            <a:pPr indent="-336550" lvl="0" marL="457200" rtl="0" algn="l">
              <a:spcBef>
                <a:spcPts val="0"/>
              </a:spcBef>
              <a:spcAft>
                <a:spcPts val="0"/>
              </a:spcAft>
              <a:buSzPts val="1700"/>
              <a:buChar char="●"/>
            </a:pPr>
            <a:r>
              <a:rPr lang="en" sz="1700"/>
              <a:t>Linear Programming Maximization (PuLP)</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Decision variables → feature weights</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Objective → maximize total impact</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Constraint → sum of weights = 1</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Cricket-based importance rules applied</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Apply Home Ground and Foreign Player Logic</a:t>
            </a:r>
            <a:endParaRPr sz="1700"/>
          </a:p>
          <a:p>
            <a:pPr indent="0" lvl="0" marL="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Finds optimal feature importance automatically</a:t>
            </a:r>
            <a:endParaRPr sz="1700"/>
          </a:p>
          <a:p>
            <a:pPr indent="0" lvl="0" marL="45720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Squad Vs Dream XI Selection</a:t>
            </a:r>
            <a:endParaRPr/>
          </a:p>
          <a:p>
            <a:pPr indent="0" lvl="0" marL="0" rtl="0" algn="l">
              <a:spcBef>
                <a:spcPts val="0"/>
              </a:spcBef>
              <a:spcAft>
                <a:spcPts val="0"/>
              </a:spcAft>
              <a:buNone/>
            </a:pPr>
            <a:r>
              <a:t/>
            </a:r>
            <a:endParaRPr/>
          </a:p>
          <a:p>
            <a:pPr indent="0" lvl="0" marL="0" rtl="0" algn="l">
              <a:lnSpc>
                <a:spcPct val="115000"/>
              </a:lnSpc>
              <a:spcBef>
                <a:spcPts val="1400"/>
              </a:spcBef>
              <a:spcAft>
                <a:spcPts val="0"/>
              </a:spcAft>
              <a:buNone/>
            </a:pPr>
            <a:r>
              <a:rPr b="1" lang="en" sz="1700">
                <a:solidFill>
                  <a:srgbClr val="222222"/>
                </a:solidFill>
                <a:highlight>
                  <a:srgbClr val="FFFFFF"/>
                </a:highlight>
                <a:latin typeface="Arial"/>
                <a:ea typeface="Arial"/>
                <a:cs typeface="Arial"/>
                <a:sym typeface="Arial"/>
              </a:rPr>
              <a:t>Stage 1 — Full Squad (18 players)</a:t>
            </a:r>
            <a:endParaRPr b="1" sz="1700">
              <a:solidFill>
                <a:srgbClr val="222222"/>
              </a:solidFill>
              <a:highlight>
                <a:srgbClr val="FFFFFF"/>
              </a:highlight>
              <a:latin typeface="Arial"/>
              <a:ea typeface="Arial"/>
              <a:cs typeface="Arial"/>
              <a:sym typeface="Arial"/>
            </a:endParaRPr>
          </a:p>
          <a:p>
            <a:pPr indent="-336550" lvl="0" marL="596900" rtl="0" algn="l">
              <a:lnSpc>
                <a:spcPct val="115000"/>
              </a:lnSpc>
              <a:spcBef>
                <a:spcPts val="1000"/>
              </a:spcBef>
              <a:spcAft>
                <a:spcPts val="0"/>
              </a:spcAft>
              <a:buClr>
                <a:srgbClr val="222222"/>
              </a:buClr>
              <a:buSzPts val="1700"/>
              <a:buFont typeface="Arial"/>
              <a:buChar char="●"/>
            </a:pPr>
            <a:r>
              <a:rPr lang="en" sz="1700">
                <a:solidFill>
                  <a:srgbClr val="222222"/>
                </a:solidFill>
                <a:highlight>
                  <a:srgbClr val="FFFFFF"/>
                </a:highlight>
                <a:latin typeface="Arial"/>
                <a:ea typeface="Arial"/>
                <a:cs typeface="Arial"/>
                <a:sym typeface="Arial"/>
              </a:rPr>
              <a:t>Budget constrained</a:t>
            </a:r>
            <a:endParaRPr sz="1700">
              <a:solidFill>
                <a:srgbClr val="222222"/>
              </a:solidFill>
              <a:highlight>
                <a:srgbClr val="FFFFFF"/>
              </a:highlight>
              <a:latin typeface="Arial"/>
              <a:ea typeface="Arial"/>
              <a:cs typeface="Arial"/>
              <a:sym typeface="Arial"/>
            </a:endParaRPr>
          </a:p>
          <a:p>
            <a:pPr indent="-336550" lvl="0" marL="596900" rtl="0" algn="l">
              <a:lnSpc>
                <a:spcPct val="115000"/>
              </a:lnSpc>
              <a:spcBef>
                <a:spcPts val="0"/>
              </a:spcBef>
              <a:spcAft>
                <a:spcPts val="0"/>
              </a:spcAft>
              <a:buClr>
                <a:srgbClr val="222222"/>
              </a:buClr>
              <a:buSzPts val="1700"/>
              <a:buFont typeface="Arial"/>
              <a:buChar char="●"/>
            </a:pPr>
            <a:r>
              <a:rPr lang="en" sz="1700">
                <a:solidFill>
                  <a:srgbClr val="222222"/>
                </a:solidFill>
                <a:highlight>
                  <a:srgbClr val="FFFFFF"/>
                </a:highlight>
                <a:latin typeface="Arial"/>
                <a:ea typeface="Arial"/>
                <a:cs typeface="Arial"/>
                <a:sym typeface="Arial"/>
              </a:rPr>
              <a:t>Role balanced</a:t>
            </a:r>
            <a:endParaRPr sz="1700">
              <a:solidFill>
                <a:srgbClr val="222222"/>
              </a:solidFill>
              <a:highlight>
                <a:srgbClr val="FFFFFF"/>
              </a:highlight>
              <a:latin typeface="Arial"/>
              <a:ea typeface="Arial"/>
              <a:cs typeface="Arial"/>
              <a:sym typeface="Arial"/>
            </a:endParaRPr>
          </a:p>
          <a:p>
            <a:pPr indent="-336550" lvl="0" marL="596900" rtl="0" algn="l">
              <a:lnSpc>
                <a:spcPct val="115000"/>
              </a:lnSpc>
              <a:spcBef>
                <a:spcPts val="0"/>
              </a:spcBef>
              <a:spcAft>
                <a:spcPts val="0"/>
              </a:spcAft>
              <a:buClr>
                <a:srgbClr val="222222"/>
              </a:buClr>
              <a:buSzPts val="1700"/>
              <a:buFont typeface="Arial"/>
              <a:buChar char="●"/>
            </a:pPr>
            <a:r>
              <a:rPr lang="en" sz="1700">
                <a:solidFill>
                  <a:srgbClr val="222222"/>
                </a:solidFill>
                <a:highlight>
                  <a:srgbClr val="FFFFFF"/>
                </a:highlight>
                <a:latin typeface="Arial"/>
                <a:ea typeface="Arial"/>
                <a:cs typeface="Arial"/>
                <a:sym typeface="Arial"/>
              </a:rPr>
              <a:t>Maximize total score</a:t>
            </a:r>
            <a:endParaRPr sz="1700">
              <a:solidFill>
                <a:srgbClr val="222222"/>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rPr b="1" lang="en" sz="1700">
                <a:solidFill>
                  <a:srgbClr val="222222"/>
                </a:solidFill>
                <a:highlight>
                  <a:srgbClr val="FFFFFF"/>
                </a:highlight>
                <a:latin typeface="Arial"/>
                <a:ea typeface="Arial"/>
                <a:cs typeface="Arial"/>
                <a:sym typeface="Arial"/>
              </a:rPr>
              <a:t>Stage 2 — Dream 11</a:t>
            </a:r>
            <a:endParaRPr b="1" sz="1700">
              <a:solidFill>
                <a:srgbClr val="222222"/>
              </a:solidFill>
              <a:highlight>
                <a:srgbClr val="FFFFFF"/>
              </a:highlight>
              <a:latin typeface="Arial"/>
              <a:ea typeface="Arial"/>
              <a:cs typeface="Arial"/>
              <a:sym typeface="Arial"/>
            </a:endParaRPr>
          </a:p>
          <a:p>
            <a:pPr indent="-336550" lvl="0" marL="596900" rtl="0" algn="l">
              <a:lnSpc>
                <a:spcPct val="115000"/>
              </a:lnSpc>
              <a:spcBef>
                <a:spcPts val="1000"/>
              </a:spcBef>
              <a:spcAft>
                <a:spcPts val="0"/>
              </a:spcAft>
              <a:buClr>
                <a:srgbClr val="222222"/>
              </a:buClr>
              <a:buSzPts val="1700"/>
              <a:buFont typeface="Arial"/>
              <a:buChar char="●"/>
            </a:pPr>
            <a:r>
              <a:rPr lang="en" sz="1700">
                <a:solidFill>
                  <a:srgbClr val="222222"/>
                </a:solidFill>
                <a:highlight>
                  <a:srgbClr val="FFFFFF"/>
                </a:highlight>
                <a:latin typeface="Arial"/>
                <a:ea typeface="Arial"/>
                <a:cs typeface="Arial"/>
                <a:sym typeface="Arial"/>
              </a:rPr>
              <a:t>Select best playing XI</a:t>
            </a:r>
            <a:endParaRPr sz="1700">
              <a:solidFill>
                <a:srgbClr val="222222"/>
              </a:solidFill>
              <a:highlight>
                <a:srgbClr val="FFFFFF"/>
              </a:highlight>
              <a:latin typeface="Arial"/>
              <a:ea typeface="Arial"/>
              <a:cs typeface="Arial"/>
              <a:sym typeface="Arial"/>
            </a:endParaRPr>
          </a:p>
          <a:p>
            <a:pPr indent="-336550" lvl="0" marL="596900" rtl="0" algn="l">
              <a:lnSpc>
                <a:spcPct val="115000"/>
              </a:lnSpc>
              <a:spcBef>
                <a:spcPts val="0"/>
              </a:spcBef>
              <a:spcAft>
                <a:spcPts val="0"/>
              </a:spcAft>
              <a:buClr>
                <a:srgbClr val="222222"/>
              </a:buClr>
              <a:buSzPts val="1700"/>
              <a:buFont typeface="Arial"/>
              <a:buChar char="●"/>
            </a:pPr>
            <a:r>
              <a:rPr lang="en" sz="1700">
                <a:solidFill>
                  <a:srgbClr val="222222"/>
                </a:solidFill>
                <a:highlight>
                  <a:srgbClr val="FFFFFF"/>
                </a:highlight>
                <a:latin typeface="Arial"/>
                <a:ea typeface="Arial"/>
                <a:cs typeface="Arial"/>
                <a:sym typeface="Arial"/>
              </a:rPr>
              <a:t>From selected 18 only</a:t>
            </a:r>
            <a:endParaRPr sz="1700">
              <a:solidFill>
                <a:srgbClr val="222222"/>
              </a:solidFill>
              <a:highlight>
                <a:srgbClr val="FFFFFF"/>
              </a:highlight>
              <a:latin typeface="Arial"/>
              <a:ea typeface="Arial"/>
              <a:cs typeface="Arial"/>
              <a:sym typeface="Arial"/>
            </a:endParaRPr>
          </a:p>
          <a:p>
            <a:pPr indent="-336550" lvl="0" marL="596900" rtl="0" algn="l">
              <a:lnSpc>
                <a:spcPct val="115000"/>
              </a:lnSpc>
              <a:spcBef>
                <a:spcPts val="0"/>
              </a:spcBef>
              <a:spcAft>
                <a:spcPts val="0"/>
              </a:spcAft>
              <a:buClr>
                <a:srgbClr val="222222"/>
              </a:buClr>
              <a:buSzPts val="1700"/>
              <a:buFont typeface="Arial"/>
              <a:buChar char="●"/>
            </a:pPr>
            <a:r>
              <a:rPr lang="en" sz="1700">
                <a:solidFill>
                  <a:srgbClr val="222222"/>
                </a:solidFill>
                <a:highlight>
                  <a:srgbClr val="FFFFFF"/>
                </a:highlight>
                <a:latin typeface="Arial"/>
                <a:ea typeface="Arial"/>
                <a:cs typeface="Arial"/>
                <a:sym typeface="Arial"/>
              </a:rPr>
              <a:t>Maximize on-field performance</a:t>
            </a:r>
            <a:endParaRPr sz="1700">
              <a:solidFill>
                <a:srgbClr val="222222"/>
              </a:solidFill>
              <a:highlight>
                <a:srgbClr val="FFFFFF"/>
              </a:highlight>
              <a:latin typeface="Arial"/>
              <a:ea typeface="Arial"/>
              <a:cs typeface="Arial"/>
              <a:sym typeface="Arial"/>
            </a:endParaRPr>
          </a:p>
          <a:p>
            <a:pPr indent="0" lvl="0" marL="0" rtl="0" algn="l">
              <a:spcBef>
                <a:spcPts val="1000"/>
              </a:spcBef>
              <a:spcAft>
                <a:spcPts val="0"/>
              </a:spcAft>
              <a:buNone/>
            </a:pPr>
            <a:r>
              <a:t/>
            </a:r>
            <a:endParaRPr sz="1700"/>
          </a:p>
        </p:txBody>
      </p:sp>
      <p:sp>
        <p:nvSpPr>
          <p:cNvPr id="193" name="Google Shape;193;p27"/>
          <p:cNvSpPr txBox="1"/>
          <p:nvPr/>
        </p:nvSpPr>
        <p:spPr>
          <a:xfrm>
            <a:off x="4870000" y="2098850"/>
            <a:ext cx="3882600" cy="147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solidFill>
                  <a:srgbClr val="222222"/>
                </a:solidFill>
                <a:highlight>
                  <a:srgbClr val="FFFFFF"/>
                </a:highlight>
              </a:rPr>
              <a:t>Why 2 stages?</a:t>
            </a:r>
            <a:endParaRPr b="1" sz="1700">
              <a:solidFill>
                <a:srgbClr val="222222"/>
              </a:solidFill>
              <a:highlight>
                <a:srgbClr val="FFFFFF"/>
              </a:highlight>
            </a:endParaRPr>
          </a:p>
          <a:p>
            <a:pPr indent="-336550" lvl="0" marL="596900" rtl="0" algn="l">
              <a:lnSpc>
                <a:spcPct val="115000"/>
              </a:lnSpc>
              <a:spcBef>
                <a:spcPts val="1000"/>
              </a:spcBef>
              <a:spcAft>
                <a:spcPts val="0"/>
              </a:spcAft>
              <a:buClr>
                <a:srgbClr val="222222"/>
              </a:buClr>
              <a:buSzPts val="1700"/>
              <a:buChar char="●"/>
            </a:pPr>
            <a:r>
              <a:rPr lang="en" sz="1700">
                <a:solidFill>
                  <a:srgbClr val="222222"/>
                </a:solidFill>
                <a:highlight>
                  <a:srgbClr val="FFFFFF"/>
                </a:highlight>
              </a:rPr>
              <a:t>Real IPL process</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Bench strength maintained</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Tactical flexibility</a:t>
            </a:r>
            <a:endParaRPr sz="1700">
              <a:solidFill>
                <a:srgbClr val="222222"/>
              </a:solidFill>
              <a:highlight>
                <a:srgbClr val="FFFFFF"/>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28" title="Chart"/>
          <p:cNvPicPr preferRelativeResize="0"/>
          <p:nvPr/>
        </p:nvPicPr>
        <p:blipFill>
          <a:blip r:embed="rId3">
            <a:alphaModFix/>
          </a:blip>
          <a:stretch>
            <a:fillRect/>
          </a:stretch>
        </p:blipFill>
        <p:spPr>
          <a:xfrm>
            <a:off x="855100" y="88375"/>
            <a:ext cx="7592151" cy="4966750"/>
          </a:xfrm>
          <a:prstGeom prst="rect">
            <a:avLst/>
          </a:prstGeom>
          <a:noFill/>
          <a:ln>
            <a:noFill/>
          </a:ln>
        </p:spPr>
      </p:pic>
      <p:pic>
        <p:nvPicPr>
          <p:cNvPr id="199" name="Google Shape;199;p28" title="sam.jpeg"/>
          <p:cNvPicPr preferRelativeResize="0"/>
          <p:nvPr/>
        </p:nvPicPr>
        <p:blipFill>
          <a:blip r:embed="rId4">
            <a:alphaModFix/>
          </a:blip>
          <a:stretch>
            <a:fillRect/>
          </a:stretch>
        </p:blipFill>
        <p:spPr>
          <a:xfrm>
            <a:off x="7680173" y="1373323"/>
            <a:ext cx="507975" cy="508000"/>
          </a:xfrm>
          <a:prstGeom prst="rect">
            <a:avLst/>
          </a:prstGeom>
          <a:noFill/>
          <a:ln>
            <a:noFill/>
          </a:ln>
        </p:spPr>
      </p:pic>
      <p:pic>
        <p:nvPicPr>
          <p:cNvPr id="200" name="Google Shape;200;p28" title="digvsig.jpeg"/>
          <p:cNvPicPr preferRelativeResize="0"/>
          <p:nvPr/>
        </p:nvPicPr>
        <p:blipFill>
          <a:blip r:embed="rId5">
            <a:alphaModFix/>
          </a:blip>
          <a:stretch>
            <a:fillRect/>
          </a:stretch>
        </p:blipFill>
        <p:spPr>
          <a:xfrm>
            <a:off x="3607673" y="917155"/>
            <a:ext cx="507975" cy="507994"/>
          </a:xfrm>
          <a:prstGeom prst="rect">
            <a:avLst/>
          </a:prstGeom>
          <a:noFill/>
          <a:ln>
            <a:noFill/>
          </a:ln>
        </p:spPr>
      </p:pic>
      <p:pic>
        <p:nvPicPr>
          <p:cNvPr id="201" name="Google Shape;201;p28" title="praskris.jpeg"/>
          <p:cNvPicPr preferRelativeResize="0"/>
          <p:nvPr/>
        </p:nvPicPr>
        <p:blipFill>
          <a:blip r:embed="rId6">
            <a:alphaModFix/>
          </a:blip>
          <a:stretch>
            <a:fillRect/>
          </a:stretch>
        </p:blipFill>
        <p:spPr>
          <a:xfrm>
            <a:off x="4064025" y="985504"/>
            <a:ext cx="507975" cy="507995"/>
          </a:xfrm>
          <a:prstGeom prst="rect">
            <a:avLst/>
          </a:prstGeom>
          <a:noFill/>
          <a:ln>
            <a:noFill/>
          </a:ln>
        </p:spPr>
      </p:pic>
      <p:pic>
        <p:nvPicPr>
          <p:cNvPr id="202" name="Google Shape;202;p28" title="tushdesh.jpeg"/>
          <p:cNvPicPr preferRelativeResize="0"/>
          <p:nvPr/>
        </p:nvPicPr>
        <p:blipFill>
          <a:blip r:embed="rId7">
            <a:alphaModFix/>
          </a:blip>
          <a:stretch>
            <a:fillRect/>
          </a:stretch>
        </p:blipFill>
        <p:spPr>
          <a:xfrm>
            <a:off x="4571999" y="1047649"/>
            <a:ext cx="575379" cy="575400"/>
          </a:xfrm>
          <a:prstGeom prst="rect">
            <a:avLst/>
          </a:prstGeom>
          <a:noFill/>
          <a:ln>
            <a:noFill/>
          </a:ln>
        </p:spPr>
      </p:pic>
      <p:pic>
        <p:nvPicPr>
          <p:cNvPr id="203" name="Google Shape;203;p28" title="subgill.jpeg"/>
          <p:cNvPicPr preferRelativeResize="0"/>
          <p:nvPr/>
        </p:nvPicPr>
        <p:blipFill>
          <a:blip r:embed="rId8">
            <a:alphaModFix/>
          </a:blip>
          <a:stretch>
            <a:fillRect/>
          </a:stretch>
        </p:blipFill>
        <p:spPr>
          <a:xfrm>
            <a:off x="5039311" y="1047654"/>
            <a:ext cx="575375" cy="575396"/>
          </a:xfrm>
          <a:prstGeom prst="rect">
            <a:avLst/>
          </a:prstGeom>
          <a:noFill/>
          <a:ln>
            <a:noFill/>
          </a:ln>
        </p:spPr>
      </p:pic>
      <p:pic>
        <p:nvPicPr>
          <p:cNvPr id="204" name="Google Shape;204;p28" title="mahthe.jpeg"/>
          <p:cNvPicPr preferRelativeResize="0"/>
          <p:nvPr/>
        </p:nvPicPr>
        <p:blipFill>
          <a:blip r:embed="rId9">
            <a:alphaModFix/>
          </a:blip>
          <a:stretch>
            <a:fillRect/>
          </a:stretch>
        </p:blipFill>
        <p:spPr>
          <a:xfrm>
            <a:off x="5614674" y="1183576"/>
            <a:ext cx="507975" cy="507975"/>
          </a:xfrm>
          <a:prstGeom prst="rect">
            <a:avLst/>
          </a:prstGeom>
          <a:noFill/>
          <a:ln>
            <a:noFill/>
          </a:ln>
        </p:spPr>
      </p:pic>
      <p:pic>
        <p:nvPicPr>
          <p:cNvPr id="205" name="Google Shape;205;p28" title="noor.jpeg"/>
          <p:cNvPicPr preferRelativeResize="0"/>
          <p:nvPr/>
        </p:nvPicPr>
        <p:blipFill>
          <a:blip r:embed="rId10">
            <a:alphaModFix/>
          </a:blip>
          <a:stretch>
            <a:fillRect/>
          </a:stretch>
        </p:blipFill>
        <p:spPr>
          <a:xfrm>
            <a:off x="6111700" y="1237175"/>
            <a:ext cx="507975" cy="507975"/>
          </a:xfrm>
          <a:prstGeom prst="rect">
            <a:avLst/>
          </a:prstGeom>
          <a:noFill/>
          <a:ln>
            <a:noFill/>
          </a:ln>
        </p:spPr>
      </p:pic>
      <p:pic>
        <p:nvPicPr>
          <p:cNvPr id="206" name="Google Shape;206;p28" title="priyarya.jpeg"/>
          <p:cNvPicPr preferRelativeResize="0"/>
          <p:nvPr/>
        </p:nvPicPr>
        <p:blipFill rotWithShape="1">
          <a:blip r:embed="rId11">
            <a:alphaModFix/>
          </a:blip>
          <a:srcRect b="13510" l="0" r="0" t="-13510"/>
          <a:stretch/>
        </p:blipFill>
        <p:spPr>
          <a:xfrm>
            <a:off x="6613716" y="1242346"/>
            <a:ext cx="575375" cy="575375"/>
          </a:xfrm>
          <a:prstGeom prst="rect">
            <a:avLst/>
          </a:prstGeom>
          <a:noFill/>
          <a:ln>
            <a:noFill/>
          </a:ln>
        </p:spPr>
      </p:pic>
      <p:pic>
        <p:nvPicPr>
          <p:cNvPr id="207" name="Google Shape;207;p28" title="dewbre.jpeg"/>
          <p:cNvPicPr preferRelativeResize="0"/>
          <p:nvPr/>
        </p:nvPicPr>
        <p:blipFill>
          <a:blip r:embed="rId12">
            <a:alphaModFix/>
          </a:blip>
          <a:stretch>
            <a:fillRect/>
          </a:stretch>
        </p:blipFill>
        <p:spPr>
          <a:xfrm>
            <a:off x="7116697" y="1373333"/>
            <a:ext cx="507975" cy="507993"/>
          </a:xfrm>
          <a:prstGeom prst="rect">
            <a:avLst/>
          </a:prstGeom>
          <a:noFill/>
          <a:ln>
            <a:noFill/>
          </a:ln>
        </p:spPr>
      </p:pic>
      <p:pic>
        <p:nvPicPr>
          <p:cNvPr id="208" name="Google Shape;208;p28" title="download (1).jpeg"/>
          <p:cNvPicPr preferRelativeResize="0"/>
          <p:nvPr/>
        </p:nvPicPr>
        <p:blipFill>
          <a:blip r:embed="rId13">
            <a:alphaModFix/>
          </a:blip>
          <a:stretch>
            <a:fillRect/>
          </a:stretch>
        </p:blipFill>
        <p:spPr>
          <a:xfrm>
            <a:off x="3064516" y="661791"/>
            <a:ext cx="575375" cy="575375"/>
          </a:xfrm>
          <a:prstGeom prst="rect">
            <a:avLst/>
          </a:prstGeom>
          <a:noFill/>
          <a:ln>
            <a:noFill/>
          </a:ln>
        </p:spPr>
      </p:pic>
      <p:pic>
        <p:nvPicPr>
          <p:cNvPr id="209" name="Google Shape;209;p28" title="download (2).jpeg"/>
          <p:cNvPicPr preferRelativeResize="0"/>
          <p:nvPr/>
        </p:nvPicPr>
        <p:blipFill>
          <a:blip r:embed="rId14">
            <a:alphaModFix/>
          </a:blip>
          <a:stretch>
            <a:fillRect/>
          </a:stretch>
        </p:blipFill>
        <p:spPr>
          <a:xfrm>
            <a:off x="2449316" y="568366"/>
            <a:ext cx="615200" cy="615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29" title="Chart"/>
          <p:cNvPicPr preferRelativeResize="0"/>
          <p:nvPr/>
        </p:nvPicPr>
        <p:blipFill>
          <a:blip r:embed="rId3">
            <a:alphaModFix/>
          </a:blip>
          <a:stretch>
            <a:fillRect/>
          </a:stretch>
        </p:blipFill>
        <p:spPr>
          <a:xfrm>
            <a:off x="829150" y="272075"/>
            <a:ext cx="7238700" cy="44759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30" title="Chart"/>
          <p:cNvPicPr preferRelativeResize="0"/>
          <p:nvPr/>
        </p:nvPicPr>
        <p:blipFill>
          <a:blip r:embed="rId3">
            <a:alphaModFix/>
          </a:blip>
          <a:stretch>
            <a:fillRect/>
          </a:stretch>
        </p:blipFill>
        <p:spPr>
          <a:xfrm>
            <a:off x="272050" y="305550"/>
            <a:ext cx="8563875" cy="4686476"/>
          </a:xfrm>
          <a:prstGeom prst="rect">
            <a:avLst/>
          </a:prstGeom>
          <a:noFill/>
          <a:ln>
            <a:noFill/>
          </a:ln>
        </p:spPr>
      </p:pic>
      <p:pic>
        <p:nvPicPr>
          <p:cNvPr id="220" name="Google Shape;220;p30" title="subgill.jpeg"/>
          <p:cNvPicPr preferRelativeResize="0"/>
          <p:nvPr/>
        </p:nvPicPr>
        <p:blipFill>
          <a:blip r:embed="rId4">
            <a:alphaModFix/>
          </a:blip>
          <a:stretch>
            <a:fillRect/>
          </a:stretch>
        </p:blipFill>
        <p:spPr>
          <a:xfrm>
            <a:off x="2332050" y="593600"/>
            <a:ext cx="873075" cy="873100"/>
          </a:xfrm>
          <a:prstGeom prst="rect">
            <a:avLst/>
          </a:prstGeom>
          <a:noFill/>
          <a:ln>
            <a:noFill/>
          </a:ln>
        </p:spPr>
      </p:pic>
      <p:pic>
        <p:nvPicPr>
          <p:cNvPr id="221" name="Google Shape;221;p30" title="priyarya.jpeg"/>
          <p:cNvPicPr preferRelativeResize="0"/>
          <p:nvPr/>
        </p:nvPicPr>
        <p:blipFill>
          <a:blip r:embed="rId5">
            <a:alphaModFix/>
          </a:blip>
          <a:stretch>
            <a:fillRect/>
          </a:stretch>
        </p:blipFill>
        <p:spPr>
          <a:xfrm>
            <a:off x="4572000" y="777350"/>
            <a:ext cx="811500" cy="811525"/>
          </a:xfrm>
          <a:prstGeom prst="rect">
            <a:avLst/>
          </a:prstGeom>
          <a:noFill/>
          <a:ln>
            <a:noFill/>
          </a:ln>
        </p:spPr>
      </p:pic>
      <p:pic>
        <p:nvPicPr>
          <p:cNvPr id="222" name="Google Shape;222;p30" title="dewbre.jpeg"/>
          <p:cNvPicPr preferRelativeResize="0"/>
          <p:nvPr/>
        </p:nvPicPr>
        <p:blipFill>
          <a:blip r:embed="rId6">
            <a:alphaModFix/>
          </a:blip>
          <a:stretch>
            <a:fillRect/>
          </a:stretch>
        </p:blipFill>
        <p:spPr>
          <a:xfrm>
            <a:off x="6750373" y="933277"/>
            <a:ext cx="811500" cy="811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1" title="Chart"/>
          <p:cNvPicPr preferRelativeResize="0"/>
          <p:nvPr/>
        </p:nvPicPr>
        <p:blipFill>
          <a:blip r:embed="rId3">
            <a:alphaModFix/>
          </a:blip>
          <a:stretch>
            <a:fillRect/>
          </a:stretch>
        </p:blipFill>
        <p:spPr>
          <a:xfrm>
            <a:off x="583025" y="401650"/>
            <a:ext cx="8123349" cy="4681300"/>
          </a:xfrm>
          <a:prstGeom prst="rect">
            <a:avLst/>
          </a:prstGeom>
          <a:noFill/>
          <a:ln>
            <a:noFill/>
          </a:ln>
        </p:spPr>
      </p:pic>
      <p:pic>
        <p:nvPicPr>
          <p:cNvPr id="228" name="Google Shape;228;p31" title="praskris.jpeg"/>
          <p:cNvPicPr preferRelativeResize="0"/>
          <p:nvPr/>
        </p:nvPicPr>
        <p:blipFill>
          <a:blip r:embed="rId4">
            <a:alphaModFix/>
          </a:blip>
          <a:stretch>
            <a:fillRect/>
          </a:stretch>
        </p:blipFill>
        <p:spPr>
          <a:xfrm>
            <a:off x="4407375" y="463340"/>
            <a:ext cx="872475" cy="872475"/>
          </a:xfrm>
          <a:prstGeom prst="rect">
            <a:avLst/>
          </a:prstGeom>
          <a:noFill/>
          <a:ln>
            <a:noFill/>
          </a:ln>
        </p:spPr>
      </p:pic>
      <p:pic>
        <p:nvPicPr>
          <p:cNvPr id="229" name="Google Shape;229;p31" title="tushdesh.jpeg"/>
          <p:cNvPicPr preferRelativeResize="0"/>
          <p:nvPr/>
        </p:nvPicPr>
        <p:blipFill>
          <a:blip r:embed="rId5">
            <a:alphaModFix/>
          </a:blip>
          <a:stretch>
            <a:fillRect/>
          </a:stretch>
        </p:blipFill>
        <p:spPr>
          <a:xfrm>
            <a:off x="6629623" y="718977"/>
            <a:ext cx="768200" cy="768200"/>
          </a:xfrm>
          <a:prstGeom prst="rect">
            <a:avLst/>
          </a:prstGeom>
          <a:noFill/>
          <a:ln>
            <a:noFill/>
          </a:ln>
        </p:spPr>
      </p:pic>
      <p:pic>
        <p:nvPicPr>
          <p:cNvPr id="230" name="Google Shape;230;p31" title="digvsig-removebg-preview.png"/>
          <p:cNvPicPr preferRelativeResize="0"/>
          <p:nvPr/>
        </p:nvPicPr>
        <p:blipFill>
          <a:blip r:embed="rId6">
            <a:alphaModFix/>
          </a:blip>
          <a:stretch>
            <a:fillRect/>
          </a:stretch>
        </p:blipFill>
        <p:spPr>
          <a:xfrm>
            <a:off x="2399198" y="515485"/>
            <a:ext cx="768200" cy="76821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2" title="Chart"/>
          <p:cNvPicPr preferRelativeResize="0"/>
          <p:nvPr/>
        </p:nvPicPr>
        <p:blipFill>
          <a:blip r:embed="rId3">
            <a:alphaModFix/>
          </a:blip>
          <a:stretch>
            <a:fillRect/>
          </a:stretch>
        </p:blipFill>
        <p:spPr>
          <a:xfrm>
            <a:off x="1072275" y="163075"/>
            <a:ext cx="7284300" cy="4504126"/>
          </a:xfrm>
          <a:prstGeom prst="rect">
            <a:avLst/>
          </a:prstGeom>
          <a:noFill/>
          <a:ln>
            <a:noFill/>
          </a:ln>
        </p:spPr>
      </p:pic>
      <p:pic>
        <p:nvPicPr>
          <p:cNvPr id="236" name="Google Shape;236;p32" title="noor.jpeg"/>
          <p:cNvPicPr preferRelativeResize="0"/>
          <p:nvPr/>
        </p:nvPicPr>
        <p:blipFill>
          <a:blip r:embed="rId4">
            <a:alphaModFix/>
          </a:blip>
          <a:stretch>
            <a:fillRect/>
          </a:stretch>
        </p:blipFill>
        <p:spPr>
          <a:xfrm>
            <a:off x="3396774" y="458474"/>
            <a:ext cx="904575" cy="904600"/>
          </a:xfrm>
          <a:prstGeom prst="rect">
            <a:avLst/>
          </a:prstGeom>
          <a:noFill/>
          <a:ln>
            <a:noFill/>
          </a:ln>
        </p:spPr>
      </p:pic>
      <p:pic>
        <p:nvPicPr>
          <p:cNvPr id="237" name="Google Shape;237;p32" title="sam.jpeg"/>
          <p:cNvPicPr preferRelativeResize="0"/>
          <p:nvPr/>
        </p:nvPicPr>
        <p:blipFill>
          <a:blip r:embed="rId5">
            <a:alphaModFix/>
          </a:blip>
          <a:stretch>
            <a:fillRect/>
          </a:stretch>
        </p:blipFill>
        <p:spPr>
          <a:xfrm>
            <a:off x="5987999" y="743529"/>
            <a:ext cx="904575" cy="90459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33" title="Chart"/>
          <p:cNvPicPr preferRelativeResize="0"/>
          <p:nvPr/>
        </p:nvPicPr>
        <p:blipFill>
          <a:blip r:embed="rId3">
            <a:alphaModFix/>
          </a:blip>
          <a:stretch>
            <a:fillRect/>
          </a:stretch>
        </p:blipFill>
        <p:spPr>
          <a:xfrm>
            <a:off x="1007638" y="367788"/>
            <a:ext cx="7128726" cy="4407925"/>
          </a:xfrm>
          <a:prstGeom prst="rect">
            <a:avLst/>
          </a:prstGeom>
          <a:noFill/>
          <a:ln>
            <a:noFill/>
          </a:ln>
        </p:spPr>
      </p:pic>
      <p:pic>
        <p:nvPicPr>
          <p:cNvPr id="243" name="Google Shape;243;p33" title="download (1).jpeg"/>
          <p:cNvPicPr preferRelativeResize="0"/>
          <p:nvPr/>
        </p:nvPicPr>
        <p:blipFill>
          <a:blip r:embed="rId4">
            <a:alphaModFix/>
          </a:blip>
          <a:stretch>
            <a:fillRect/>
          </a:stretch>
        </p:blipFill>
        <p:spPr>
          <a:xfrm>
            <a:off x="5936174" y="523299"/>
            <a:ext cx="956375" cy="956400"/>
          </a:xfrm>
          <a:prstGeom prst="rect">
            <a:avLst/>
          </a:prstGeom>
          <a:noFill/>
          <a:ln>
            <a:noFill/>
          </a:ln>
        </p:spPr>
      </p:pic>
      <p:pic>
        <p:nvPicPr>
          <p:cNvPr id="244" name="Google Shape;244;p33" title="download__2_-removebg-preview.png"/>
          <p:cNvPicPr preferRelativeResize="0"/>
          <p:nvPr/>
        </p:nvPicPr>
        <p:blipFill>
          <a:blip r:embed="rId5">
            <a:alphaModFix/>
          </a:blip>
          <a:stretch>
            <a:fillRect/>
          </a:stretch>
        </p:blipFill>
        <p:spPr>
          <a:xfrm>
            <a:off x="3461575" y="367800"/>
            <a:ext cx="956375" cy="95640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 of Model</a:t>
            </a:r>
            <a:endParaRPr/>
          </a:p>
        </p:txBody>
      </p:sp>
      <p:sp>
        <p:nvSpPr>
          <p:cNvPr id="250" name="Google Shape;250;p34"/>
          <p:cNvSpPr txBox="1"/>
          <p:nvPr/>
        </p:nvSpPr>
        <p:spPr>
          <a:xfrm>
            <a:off x="712575" y="1334450"/>
            <a:ext cx="6452100" cy="2079300"/>
          </a:xfrm>
          <a:prstGeom prst="rect">
            <a:avLst/>
          </a:prstGeom>
          <a:noFill/>
          <a:ln>
            <a:noFill/>
          </a:ln>
        </p:spPr>
        <p:txBody>
          <a:bodyPr anchorCtr="0" anchor="t" bIns="91425" lIns="91425" spcFirstLastPara="1" rIns="91425" wrap="square" tIns="91425">
            <a:spAutoFit/>
          </a:bodyPr>
          <a:lstStyle/>
          <a:p>
            <a:pPr indent="-336550" lvl="0" marL="596900" rtl="0" algn="l">
              <a:lnSpc>
                <a:spcPct val="115000"/>
              </a:lnSpc>
              <a:spcBef>
                <a:spcPts val="1000"/>
              </a:spcBef>
              <a:spcAft>
                <a:spcPts val="0"/>
              </a:spcAft>
              <a:buClr>
                <a:srgbClr val="222222"/>
              </a:buClr>
              <a:buSzPts val="1700"/>
              <a:buAutoNum type="arabicPeriod"/>
            </a:pPr>
            <a:r>
              <a:rPr lang="en" sz="1700">
                <a:solidFill>
                  <a:srgbClr val="222222"/>
                </a:solidFill>
                <a:highlight>
                  <a:srgbClr val="FFFFFF"/>
                </a:highlight>
              </a:rPr>
              <a:t>Dependence on Historical Performance Data</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Static Impact Scores vs Dynamic Match Conditions</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Linear Assumptions in Player Contribution</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Simplified Role Classification</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AutoNum type="arabicPeriod"/>
            </a:pPr>
            <a:r>
              <a:rPr lang="en" sz="1700">
                <a:solidFill>
                  <a:srgbClr val="222222"/>
                </a:solidFill>
                <a:highlight>
                  <a:srgbClr val="FFFFFF"/>
                </a:highlight>
              </a:rPr>
              <a:t>Data Quality &amp; Feature Limitations</a:t>
            </a:r>
            <a:endParaRPr sz="1700">
              <a:solidFill>
                <a:srgbClr val="222222"/>
              </a:solidFill>
              <a:highlight>
                <a:srgbClr val="FFFFFF"/>
              </a:highlight>
            </a:endParaRPr>
          </a:p>
          <a:p>
            <a:pPr indent="0" lvl="0" marL="457200" rtl="0" algn="l">
              <a:lnSpc>
                <a:spcPct val="115000"/>
              </a:lnSpc>
              <a:spcBef>
                <a:spcPts val="1000"/>
              </a:spcBef>
              <a:spcAft>
                <a:spcPts val="1000"/>
              </a:spcAft>
              <a:buNone/>
            </a:pPr>
            <a:r>
              <a:t/>
            </a:r>
            <a:endParaRPr sz="1700">
              <a:solidFill>
                <a:srgbClr val="222222"/>
              </a:solidFill>
              <a:highlight>
                <a:srgbClr val="FFFFFF"/>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Enhancements</a:t>
            </a:r>
            <a:endParaRPr/>
          </a:p>
        </p:txBody>
      </p:sp>
      <p:sp>
        <p:nvSpPr>
          <p:cNvPr id="256" name="Google Shape;256;p35"/>
          <p:cNvSpPr txBox="1"/>
          <p:nvPr/>
        </p:nvSpPr>
        <p:spPr>
          <a:xfrm>
            <a:off x="621900" y="1380550"/>
            <a:ext cx="6944400" cy="30168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AutoNum type="arabicPeriod"/>
            </a:pPr>
            <a:r>
              <a:rPr lang="en" sz="1700"/>
              <a:t>Planned Improvements</a:t>
            </a:r>
            <a:endParaRPr sz="1700"/>
          </a:p>
          <a:p>
            <a:pPr indent="-336550" lvl="1" marL="914400" rtl="0" algn="l">
              <a:spcBef>
                <a:spcPts val="0"/>
              </a:spcBef>
              <a:spcAft>
                <a:spcPts val="0"/>
              </a:spcAft>
              <a:buSzPts val="1700"/>
              <a:buChar char="○"/>
            </a:pPr>
            <a:r>
              <a:rPr lang="en" sz="1700"/>
              <a:t>Live Form Integration</a:t>
            </a:r>
            <a:endParaRPr sz="1700"/>
          </a:p>
          <a:p>
            <a:pPr indent="-336550" lvl="0" marL="457200" rtl="0" algn="l">
              <a:spcBef>
                <a:spcPts val="0"/>
              </a:spcBef>
              <a:spcAft>
                <a:spcPts val="0"/>
              </a:spcAft>
              <a:buSzPts val="1700"/>
              <a:buAutoNum type="arabicPeriod"/>
            </a:pPr>
            <a:r>
              <a:rPr lang="en" sz="1700"/>
              <a:t>Include recent match performance instead of only historical averages</a:t>
            </a:r>
            <a:endParaRPr sz="1700"/>
          </a:p>
          <a:p>
            <a:pPr indent="-336550" lvl="1" marL="914400" rtl="0" algn="l">
              <a:spcBef>
                <a:spcPts val="0"/>
              </a:spcBef>
              <a:spcAft>
                <a:spcPts val="0"/>
              </a:spcAft>
              <a:buSzPts val="1700"/>
              <a:buChar char="○"/>
            </a:pPr>
            <a:r>
              <a:rPr lang="en" sz="1700"/>
              <a:t> Match Condition Factors</a:t>
            </a:r>
            <a:endParaRPr sz="1700"/>
          </a:p>
          <a:p>
            <a:pPr indent="-336550" lvl="0" marL="457200" rtl="0" algn="l">
              <a:spcBef>
                <a:spcPts val="0"/>
              </a:spcBef>
              <a:spcAft>
                <a:spcPts val="0"/>
              </a:spcAft>
              <a:buSzPts val="1700"/>
              <a:buAutoNum type="arabicPeriod"/>
            </a:pPr>
            <a:r>
              <a:rPr lang="en" sz="1700"/>
              <a:t>Add pitch type, venue, weather, and opponent strength</a:t>
            </a:r>
            <a:endParaRPr sz="1700"/>
          </a:p>
          <a:p>
            <a:pPr indent="-336550" lvl="1" marL="914400" rtl="0" algn="l">
              <a:spcBef>
                <a:spcPts val="0"/>
              </a:spcBef>
              <a:spcAft>
                <a:spcPts val="0"/>
              </a:spcAft>
              <a:buSzPts val="1700"/>
              <a:buChar char="○"/>
            </a:pPr>
            <a:r>
              <a:rPr lang="en" sz="1700"/>
              <a:t> Dynamic Impact Scores</a:t>
            </a:r>
            <a:endParaRPr sz="1700"/>
          </a:p>
          <a:p>
            <a:pPr indent="-336550" lvl="0" marL="457200" rtl="0" algn="l">
              <a:spcBef>
                <a:spcPts val="0"/>
              </a:spcBef>
              <a:spcAft>
                <a:spcPts val="0"/>
              </a:spcAft>
              <a:buSzPts val="1700"/>
              <a:buAutoNum type="arabicPeriod"/>
            </a:pPr>
            <a:r>
              <a:rPr lang="en" sz="1700"/>
              <a:t>Update player scores match-by-match automatically</a:t>
            </a:r>
            <a:endParaRPr sz="1700"/>
          </a:p>
          <a:p>
            <a:pPr indent="-336550" lvl="1" marL="914400" rtl="0" algn="l">
              <a:spcBef>
                <a:spcPts val="0"/>
              </a:spcBef>
              <a:spcAft>
                <a:spcPts val="0"/>
              </a:spcAft>
              <a:buSzPts val="1700"/>
              <a:buChar char="○"/>
            </a:pPr>
            <a:r>
              <a:rPr lang="en" sz="1700"/>
              <a:t> Non-Linear Optimization</a:t>
            </a:r>
            <a:endParaRPr sz="1700"/>
          </a:p>
          <a:p>
            <a:pPr indent="-336550" lvl="0" marL="457200" rtl="0" algn="l">
              <a:spcBef>
                <a:spcPts val="0"/>
              </a:spcBef>
              <a:spcAft>
                <a:spcPts val="0"/>
              </a:spcAft>
              <a:buSzPts val="1700"/>
              <a:buAutoNum type="arabicPeriod"/>
            </a:pPr>
            <a:r>
              <a:rPr lang="en" sz="1700"/>
              <a:t>Consider player synergy, partnerships, and team chemistry</a:t>
            </a:r>
            <a:endParaRPr sz="1700"/>
          </a:p>
          <a:p>
            <a:pPr indent="0" lvl="0" marL="45720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262" name="Google Shape;262;p36"/>
          <p:cNvSpPr txBox="1"/>
          <p:nvPr/>
        </p:nvSpPr>
        <p:spPr>
          <a:xfrm>
            <a:off x="620500" y="1166025"/>
            <a:ext cx="8291700" cy="35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solidFill>
                  <a:srgbClr val="222222"/>
                </a:solidFill>
                <a:highlight>
                  <a:srgbClr val="FFFFFF"/>
                </a:highlight>
              </a:rPr>
              <a:t>Project Summary</a:t>
            </a:r>
            <a:endParaRPr b="1" sz="1700">
              <a:solidFill>
                <a:srgbClr val="222222"/>
              </a:solidFill>
              <a:highlight>
                <a:srgbClr val="FFFFFF"/>
              </a:highlight>
            </a:endParaRPr>
          </a:p>
          <a:p>
            <a:pPr indent="-336550" lvl="0" marL="596900" rtl="0" algn="l">
              <a:lnSpc>
                <a:spcPct val="115000"/>
              </a:lnSpc>
              <a:spcBef>
                <a:spcPts val="1000"/>
              </a:spcBef>
              <a:spcAft>
                <a:spcPts val="0"/>
              </a:spcAft>
              <a:buClr>
                <a:srgbClr val="222222"/>
              </a:buClr>
              <a:buSzPts val="1700"/>
              <a:buChar char="●"/>
            </a:pPr>
            <a:r>
              <a:rPr lang="en" sz="1700">
                <a:solidFill>
                  <a:srgbClr val="222222"/>
                </a:solidFill>
                <a:highlight>
                  <a:srgbClr val="FFFFFF"/>
                </a:highlight>
              </a:rPr>
              <a:t>Cleaned and preprocessed IPL player dataset</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Engineered role-based </a:t>
            </a:r>
            <a:r>
              <a:rPr b="1" lang="en" sz="1700">
                <a:solidFill>
                  <a:srgbClr val="222222"/>
                </a:solidFill>
                <a:highlight>
                  <a:srgbClr val="FFFFFF"/>
                </a:highlight>
              </a:rPr>
              <a:t>Impact Scores</a:t>
            </a:r>
            <a:endParaRPr b="1"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Applied </a:t>
            </a:r>
            <a:r>
              <a:rPr b="1" lang="en" sz="1700">
                <a:solidFill>
                  <a:srgbClr val="222222"/>
                </a:solidFill>
                <a:highlight>
                  <a:srgbClr val="FFFFFF"/>
                </a:highlight>
              </a:rPr>
              <a:t>Linear Programming (LPP)</a:t>
            </a:r>
            <a:r>
              <a:rPr lang="en" sz="1700">
                <a:solidFill>
                  <a:srgbClr val="222222"/>
                </a:solidFill>
                <a:highlight>
                  <a:srgbClr val="FFFFFF"/>
                </a:highlight>
              </a:rPr>
              <a:t> to select:</a:t>
            </a:r>
            <a:endParaRPr sz="1700">
              <a:solidFill>
                <a:srgbClr val="222222"/>
              </a:solidFill>
              <a:highlight>
                <a:srgbClr val="FFFFFF"/>
              </a:highlight>
            </a:endParaRPr>
          </a:p>
          <a:p>
            <a:pPr indent="-336550" lvl="1" marL="11938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18-player squad under ₹125 Cr budget</a:t>
            </a:r>
            <a:endParaRPr sz="1700">
              <a:solidFill>
                <a:srgbClr val="222222"/>
              </a:solidFill>
              <a:highlight>
                <a:srgbClr val="FFFFFF"/>
              </a:highlight>
            </a:endParaRPr>
          </a:p>
          <a:p>
            <a:pPr indent="-336550" lvl="1" marL="11938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Optimal Dream11 playing XI</a:t>
            </a:r>
            <a:endParaRPr sz="1700">
              <a:solidFill>
                <a:srgbClr val="222222"/>
              </a:solidFill>
              <a:highlight>
                <a:srgbClr val="FFFFFF"/>
              </a:highlight>
            </a:endParaRPr>
          </a:p>
          <a:p>
            <a:pPr indent="0" lvl="0" marL="0" rtl="0" algn="l">
              <a:lnSpc>
                <a:spcPct val="115000"/>
              </a:lnSpc>
              <a:spcBef>
                <a:spcPts val="1400"/>
              </a:spcBef>
              <a:spcAft>
                <a:spcPts val="0"/>
              </a:spcAft>
              <a:buNone/>
            </a:pPr>
            <a:r>
              <a:rPr b="1" lang="en" sz="1700">
                <a:solidFill>
                  <a:srgbClr val="222222"/>
                </a:solidFill>
                <a:highlight>
                  <a:srgbClr val="FFFFFF"/>
                </a:highlight>
              </a:rPr>
              <a:t>Key Insights</a:t>
            </a:r>
            <a:endParaRPr b="1" sz="1700">
              <a:solidFill>
                <a:srgbClr val="222222"/>
              </a:solidFill>
              <a:highlight>
                <a:srgbClr val="FFFFFF"/>
              </a:highlight>
            </a:endParaRPr>
          </a:p>
          <a:p>
            <a:pPr indent="-336550" lvl="0" marL="596900" rtl="0" algn="l">
              <a:lnSpc>
                <a:spcPct val="115000"/>
              </a:lnSpc>
              <a:spcBef>
                <a:spcPts val="1000"/>
              </a:spcBef>
              <a:spcAft>
                <a:spcPts val="0"/>
              </a:spcAft>
              <a:buClr>
                <a:srgbClr val="222222"/>
              </a:buClr>
              <a:buSzPts val="1700"/>
              <a:buChar char="●"/>
            </a:pPr>
            <a:r>
              <a:rPr lang="en" sz="1700">
                <a:solidFill>
                  <a:srgbClr val="222222"/>
                </a:solidFill>
                <a:highlight>
                  <a:srgbClr val="FFFFFF"/>
                </a:highlight>
              </a:rPr>
              <a:t>Data-driven selection outperforms manual picking</a:t>
            </a:r>
            <a:endParaRPr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Identified high performance, low-cost </a:t>
            </a:r>
            <a:r>
              <a:rPr b="1" lang="en" sz="1700">
                <a:solidFill>
                  <a:srgbClr val="222222"/>
                </a:solidFill>
                <a:highlight>
                  <a:srgbClr val="FFFFFF"/>
                </a:highlight>
              </a:rPr>
              <a:t>value players</a:t>
            </a:r>
            <a:endParaRPr b="1" sz="1700">
              <a:solidFill>
                <a:srgbClr val="222222"/>
              </a:solidFill>
              <a:highlight>
                <a:srgbClr val="FFFFFF"/>
              </a:highlight>
            </a:endParaRPr>
          </a:p>
          <a:p>
            <a:pPr indent="-336550" lvl="0" marL="596900" rtl="0" algn="l">
              <a:lnSpc>
                <a:spcPct val="115000"/>
              </a:lnSpc>
              <a:spcBef>
                <a:spcPts val="0"/>
              </a:spcBef>
              <a:spcAft>
                <a:spcPts val="0"/>
              </a:spcAft>
              <a:buClr>
                <a:srgbClr val="222222"/>
              </a:buClr>
              <a:buSzPts val="1700"/>
              <a:buChar char="●"/>
            </a:pPr>
            <a:r>
              <a:rPr lang="en" sz="1700">
                <a:solidFill>
                  <a:srgbClr val="222222"/>
                </a:solidFill>
                <a:highlight>
                  <a:srgbClr val="FFFFFF"/>
                </a:highlight>
              </a:rPr>
              <a:t>Maximized total squad performance within constraints</a:t>
            </a:r>
            <a:endParaRPr sz="1700">
              <a:solidFill>
                <a:srgbClr val="222222"/>
              </a:solidFill>
              <a:highlight>
                <a:srgbClr val="FFFFFF"/>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7"/>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268" name="Google Shape;268;p37"/>
          <p:cNvSpPr/>
          <p:nvPr/>
        </p:nvSpPr>
        <p:spPr>
          <a:xfrm>
            <a:off x="6847150" y="1577745"/>
            <a:ext cx="1179600" cy="343800"/>
          </a:xfrm>
          <a:prstGeom prst="wedgeRoundRectCallout">
            <a:avLst>
              <a:gd fmla="val -21432" name="adj1"/>
              <a:gd fmla="val 84969" name="adj2"/>
              <a:gd fmla="val 0" name="adj3"/>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7"/>
          <p:cNvSpPr txBox="1"/>
          <p:nvPr>
            <p:ph idx="2" type="body"/>
          </p:nvPr>
        </p:nvSpPr>
        <p:spPr>
          <a:xfrm>
            <a:off x="6847150" y="1606395"/>
            <a:ext cx="1179600" cy="28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rPr>
              <a:t>mx growth</a:t>
            </a:r>
            <a:endParaRPr sz="1300">
              <a:solidFill>
                <a:schemeClr val="dk1"/>
              </a:solidFill>
            </a:endParaRPr>
          </a:p>
        </p:txBody>
      </p:sp>
      <p:pic>
        <p:nvPicPr>
          <p:cNvPr id="270" name="Google Shape;270;p37" title="unnamed.png"/>
          <p:cNvPicPr preferRelativeResize="0"/>
          <p:nvPr/>
        </p:nvPicPr>
        <p:blipFill>
          <a:blip r:embed="rId3">
            <a:alphaModFix/>
          </a:blip>
          <a:stretch>
            <a:fillRect/>
          </a:stretch>
        </p:blipFill>
        <p:spPr>
          <a:xfrm>
            <a:off x="4572000" y="53525"/>
            <a:ext cx="4572000" cy="5089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