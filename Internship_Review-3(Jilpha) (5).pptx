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Q8n2v9xMcR+lqMdBDK7KOZ5Nj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54F765F-7756-45E7-B17C-0A19B0C82D69}">
  <a:tblStyle styleId="{D54F765F-7756-45E7-B17C-0A19B0C82D69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fill>
          <a:solidFill>
            <a:srgbClr val="CDD4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DD4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fill>
          <a:solidFill>
            <a:srgbClr val="4472C4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4472C4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4472C4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c7949f234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6" name="Google Shape;86;g3bc7949f234_1_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8" name="Google Shape;21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838200" y="6356350"/>
            <a:ext cx="10096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3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3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3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Jilpha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c7949f234_1_9"/>
          <p:cNvSpPr txBox="1"/>
          <p:nvPr/>
        </p:nvSpPr>
        <p:spPr>
          <a:xfrm>
            <a:off x="6525369" y="1812218"/>
            <a:ext cx="5514300" cy="20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Under the Supervision: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Mr. Sahabzada Betab Badar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Assistant Professor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School of CSE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7365D"/>
                </a:solidFill>
                <a:latin typeface="Cambria"/>
                <a:ea typeface="Cambria"/>
                <a:cs typeface="Cambria"/>
                <a:sym typeface="Cambria"/>
              </a:rPr>
              <a:t>Presidency University, Bengaluru</a:t>
            </a:r>
            <a:endParaRPr b="0" i="0" sz="18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rgbClr val="17365D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9" name="Google Shape;89;g3bc7949f234_1_9"/>
          <p:cNvSpPr txBox="1"/>
          <p:nvPr/>
        </p:nvSpPr>
        <p:spPr>
          <a:xfrm>
            <a:off x="156411" y="4130278"/>
            <a:ext cx="122499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72C4"/>
                </a:solidFill>
                <a:latin typeface="Cambria"/>
                <a:ea typeface="Cambria"/>
                <a:cs typeface="Cambria"/>
                <a:sym typeface="Cambria"/>
              </a:rPr>
              <a:t>Name of the Program: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B.tech Computer Science and Engineering (Data Science)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72C4"/>
                </a:solidFill>
                <a:latin typeface="Cambria"/>
                <a:ea typeface="Cambria"/>
                <a:cs typeface="Cambria"/>
                <a:sym typeface="Cambria"/>
              </a:rPr>
              <a:t>Name of the HoD: 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Dr. Pravinth Raja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72C4"/>
                </a:solidFill>
                <a:latin typeface="Cambria"/>
                <a:ea typeface="Cambria"/>
                <a:cs typeface="Cambria"/>
                <a:sym typeface="Cambria"/>
              </a:rPr>
              <a:t>Name of the Program Internship Coordinator: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Ms. Nisha Robin Rohit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4472C4"/>
                </a:solidFill>
                <a:latin typeface="Cambria"/>
                <a:ea typeface="Cambria"/>
                <a:cs typeface="Cambria"/>
                <a:sym typeface="Cambria"/>
              </a:rPr>
              <a:t>Name of the School Internship Coordinator: </a:t>
            </a:r>
            <a:r>
              <a:rPr b="1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Dr. Md Ziaur Rahman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 									</a:t>
            </a:r>
            <a:endParaRPr b="1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0" name="Google Shape;90;g3bc7949f234_1_9"/>
          <p:cNvSpPr txBox="1"/>
          <p:nvPr/>
        </p:nvSpPr>
        <p:spPr>
          <a:xfrm>
            <a:off x="838200" y="130629"/>
            <a:ext cx="10515600" cy="15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b="1" i="0" lang="en-US" sz="28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7302 - INTERNSHIP</a:t>
            </a:r>
            <a:br>
              <a:rPr b="1" i="0" lang="en-US" sz="2800" u="none" cap="none" strike="noStrik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Review-</a:t>
            </a:r>
            <a:r>
              <a:rPr b="1" lang="en-US" sz="24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</a:t>
            </a:r>
            <a: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Presentation </a:t>
            </a:r>
            <a:b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IPL 2026 Analysis</a:t>
            </a:r>
            <a:br>
              <a:rPr b="1" i="0" lang="en-US" sz="2400" u="none" cap="none" strike="noStrik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0" sz="2400" u="none" cap="none" strike="noStrike">
              <a:solidFill>
                <a:srgbClr val="17365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91" name="Google Shape;91;g3bc7949f234_1_9"/>
          <p:cNvGraphicFramePr/>
          <p:nvPr/>
        </p:nvGraphicFramePr>
        <p:xfrm>
          <a:off x="601909" y="1911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{D54F765F-7756-45E7-B17C-0A19B0C82D69}</a:tableStyleId>
              </a:tblPr>
              <a:tblGrid>
                <a:gridCol w="1371275"/>
                <a:gridCol w="3950275"/>
              </a:tblGrid>
              <a:tr h="362275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Student Details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 hMerge="1"/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Name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JILPHA SUSMITH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Roll No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20221CSD0066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2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Section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latin typeface="Cambria"/>
                          <a:ea typeface="Cambria"/>
                          <a:cs typeface="Cambria"/>
                          <a:sym typeface="Cambria"/>
                        </a:rPr>
                        <a:t>8CSD02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Arial"/>
              <a:buNone/>
            </a:pPr>
            <a:r>
              <a:rPr b="1" i="0" lang="en-US" sz="325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CONTENT:</a:t>
            </a:r>
            <a:endParaRPr b="1" i="0" sz="32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2"/>
          <p:cNvSpPr txBox="1"/>
          <p:nvPr/>
        </p:nvSpPr>
        <p:spPr>
          <a:xfrm>
            <a:off x="704516" y="1027630"/>
            <a:ext cx="10668000" cy="42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i="0" lang="en-US" sz="20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Brief.</a:t>
            </a:r>
            <a:endParaRPr b="0" i="0" sz="280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i="0" lang="en-US" sz="20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Domain.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i="0" lang="en-US" sz="20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Composition.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i="0" lang="en-US" sz="20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Faced.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3556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i="0" lang="en-US" sz="20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i="0" lang="en-US" sz="20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i="0" lang="en-US" sz="20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i="0" lang="en-US" sz="20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i="0" lang="en-US" sz="20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Requirements.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i="0" lang="en-US" sz="20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Proposed System.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i="0" lang="en-US" sz="20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Timeline.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2000"/>
              <a:buFont typeface="Times New Roman"/>
              <a:buAutoNum type="arabicPeriod"/>
            </a:pPr>
            <a:r>
              <a:rPr b="1" i="0" lang="en-US" sz="200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Link.</a:t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-190500" lvl="0" marL="4953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/>
        </p:nvSpPr>
        <p:spPr>
          <a:xfrm>
            <a:off x="838200" y="365126"/>
            <a:ext cx="105156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Arial"/>
              <a:buNone/>
            </a:pPr>
            <a:r>
              <a:rPr b="1" i="0" lang="en-US" sz="325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Brief:</a:t>
            </a:r>
            <a:endParaRPr b="0" i="0" sz="325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 txBox="1"/>
          <p:nvPr/>
        </p:nvSpPr>
        <p:spPr>
          <a:xfrm>
            <a:off x="838200" y="1342518"/>
            <a:ext cx="10515600" cy="46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973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Nineleaps:</a:t>
            </a:r>
            <a:endParaRPr b="1" i="0" sz="973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3108" lvl="0" marL="9144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AutoNum type="arabicPeriod"/>
            </a:pPr>
            <a:r>
              <a:rPr b="0" i="0" lang="en-US" sz="973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Nineleaps is a data and analytics consulting company that focuses on helping organizations become </a:t>
            </a:r>
            <a:r>
              <a:rPr b="1" i="0" lang="en-US" sz="973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data-driven</a:t>
            </a:r>
            <a:r>
              <a:rPr b="0" i="0" lang="en-US" sz="973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The company works with clients across multiple industries to solve business problems using </a:t>
            </a:r>
            <a:r>
              <a:rPr b="1" i="0" lang="en-US" sz="973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analytics, artificial intelligence, and digital transformation</a:t>
            </a:r>
            <a:r>
              <a:rPr b="0" i="0" lang="en-US" sz="973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b="0" i="0" sz="973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973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b="1" i="0" lang="en-US" sz="973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Services &amp; Offerings:</a:t>
            </a:r>
            <a:endParaRPr b="1" i="0" sz="973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3108" lvl="0" marL="9144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AutoNum type="arabicPeriod"/>
            </a:pPr>
            <a:r>
              <a:rPr b="0" i="0" lang="en-US" sz="973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Analytics &amp; Business Intelligence.</a:t>
            </a:r>
            <a:endParaRPr b="0" i="0" sz="973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3108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AutoNum type="arabicPeriod"/>
            </a:pPr>
            <a:r>
              <a:rPr b="0" i="0" lang="en-US" sz="973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Engineering &amp; Cloud Solutions.</a:t>
            </a:r>
            <a:endParaRPr b="0" i="0" sz="973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3108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AutoNum type="arabicPeriod"/>
            </a:pPr>
            <a:r>
              <a:rPr b="0" i="0" lang="en-US" sz="973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&amp; Machine Learning Solutions.</a:t>
            </a:r>
            <a:endParaRPr b="0" i="0" sz="973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3108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AutoNum type="arabicPeriod"/>
            </a:pPr>
            <a:r>
              <a:rPr b="0" i="0" lang="en-US" sz="973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Product Engineering &amp; Consulting.</a:t>
            </a:r>
            <a:endParaRPr b="0" i="0" sz="973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3108" lvl="0" marL="91440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Times New Roman"/>
              <a:buAutoNum type="arabicPeriod"/>
            </a:pPr>
            <a:r>
              <a:rPr b="0" i="0" lang="en-US" sz="973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Transformation Services.</a:t>
            </a:r>
            <a:endParaRPr b="0" i="0" sz="973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87630" lvl="1" marL="6858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135" lvl="0" marL="2286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3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"/>
          <p:cNvSpPr txBox="1"/>
          <p:nvPr>
            <p:ph type="title"/>
          </p:nvPr>
        </p:nvSpPr>
        <p:spPr>
          <a:xfrm>
            <a:off x="686400" y="3237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Calibri"/>
              <a:buNone/>
            </a:pPr>
            <a:r>
              <a:rPr b="1" lang="en-US" sz="325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Clients and Industries</a:t>
            </a:r>
            <a:endParaRPr sz="32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" name="Google Shape;110;p4"/>
          <p:cNvSpPr txBox="1"/>
          <p:nvPr>
            <p:ph idx="1" type="body"/>
          </p:nvPr>
        </p:nvSpPr>
        <p:spPr>
          <a:xfrm>
            <a:off x="576025" y="148067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Nineleaps works with 100+ global clients, including startups, mid-size firms, and Fortune 500 companies  across sectors such as retail, finance, healthcare, mobility, logistics, and real estate.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They build scalable applications, AI-enabled platforms, digital transformation roadmaps, and tailored software solutions that help businesses adapt to changing technology landscapes.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 txBox="1"/>
          <p:nvPr>
            <p:ph idx="10" type="dt"/>
          </p:nvPr>
        </p:nvSpPr>
        <p:spPr>
          <a:xfrm>
            <a:off x="838200" y="6356350"/>
            <a:ext cx="10096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31-01-2026</a:t>
            </a:r>
            <a:endParaRPr/>
          </a:p>
        </p:txBody>
      </p:sp>
      <p:sp>
        <p:nvSpPr>
          <p:cNvPr id="112" name="Google Shape;112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Working domain</a:t>
            </a:r>
            <a:r>
              <a:rPr b="1" lang="en-US" sz="32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118" name="Google Shape;118;p5"/>
          <p:cNvSpPr txBox="1"/>
          <p:nvPr>
            <p:ph idx="1" type="body"/>
          </p:nvPr>
        </p:nvSpPr>
        <p:spPr>
          <a:xfrm>
            <a:off x="838200" y="1184367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Assigned Domain:</a:t>
            </a: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 Data Analytics.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Data Analytics involves collecting, cleaning, and analyzing data.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It helps in identifying patterns and insights for decision-making.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Used across industries to improve efficiency and business performance.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 team and reporting Manager</a:t>
            </a:r>
            <a:endParaRPr sz="3250"/>
          </a:p>
        </p:txBody>
      </p:sp>
      <p:sp>
        <p:nvSpPr>
          <p:cNvPr id="125" name="Google Shape;125;p6"/>
          <p:cNvSpPr txBox="1"/>
          <p:nvPr>
            <p:ph idx="1" type="body"/>
          </p:nvPr>
        </p:nvSpPr>
        <p:spPr>
          <a:xfrm>
            <a:off x="995855" y="1184366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Team Coordination and Workflow</a:t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just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Conduct a daily stand-up call every morning.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Feb 2nd -6th - Gsheet Assignment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Feb 9th-13th -Mocks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Feb 16th-20th- SQL training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1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Feb 23rd -27th -SQL self study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Tasks for the day are discussed and assigned.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Dependencies and blockers  are clarified.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9144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At the end of each day, progress updates are shared with the project manager.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755400" y="365125"/>
            <a:ext cx="10515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Faced in Internship</a:t>
            </a:r>
            <a:endParaRPr/>
          </a:p>
        </p:txBody>
      </p:sp>
      <p:sp>
        <p:nvSpPr>
          <p:cNvPr id="132" name="Google Shape;132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3" name="Google Shape;133;p7"/>
          <p:cNvSpPr txBox="1"/>
          <p:nvPr>
            <p:ph idx="1" type="body"/>
          </p:nvPr>
        </p:nvSpPr>
        <p:spPr>
          <a:xfrm>
            <a:off x="852000" y="1184437"/>
            <a:ext cx="110220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Coordination with Team Members</a:t>
            </a:r>
            <a:b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Collaborating with teammates from different colleges required clear communication and alignment on tasks.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Understanding Large and Complex Datasets</a:t>
            </a:r>
            <a:b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IPL data was extensive, making it challenging to understand structure, dependencies, and relevance initially.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Quality Issues</a:t>
            </a:r>
            <a:b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Handling missing values, inconsistent formats, and noisy data during the data validation phase required extra effort.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AutoNum type="arabicPeriod"/>
            </a:pPr>
            <a:r>
              <a:rPr b="1"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 Management</a:t>
            </a:r>
            <a:b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i="0" lang="en-US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Balancing daily stand-up deliverables with academic responsibilities was challenging at times.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work</a:t>
            </a:r>
            <a:endParaRPr b="1" sz="3250"/>
          </a:p>
        </p:txBody>
      </p:sp>
      <p:sp>
        <p:nvSpPr>
          <p:cNvPr id="139" name="Google Shape;1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" name="Google Shape;140;p8"/>
          <p:cNvSpPr txBox="1"/>
          <p:nvPr>
            <p:ph idx="1" type="body"/>
          </p:nvPr>
        </p:nvSpPr>
        <p:spPr>
          <a:xfrm>
            <a:off x="969502" y="1184366"/>
            <a:ext cx="98745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design and implement a SQL-based analytical system using the Classic Models database.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apply core and advanced SQL concepts including JOINs, Subqueries, CTEs, and Window Functions.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analyze sales, revenue, inventory, and customer behavior effectively.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To evaluate employee and office performance using ranking and aggregation techniques.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9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Review</a:t>
            </a:r>
            <a:endParaRPr sz="3250"/>
          </a:p>
        </p:txBody>
      </p:sp>
      <p:sp>
        <p:nvSpPr>
          <p:cNvPr id="146" name="Google Shape;146;p9"/>
          <p:cNvSpPr txBox="1"/>
          <p:nvPr>
            <p:ph idx="1" type="body"/>
          </p:nvPr>
        </p:nvSpPr>
        <p:spPr>
          <a:xfrm>
            <a:off x="838200" y="1268167"/>
            <a:ext cx="10515600" cy="40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Developed by IBM in the 1970s based on the relational model proposed by Edgar F. Codd.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Supports Data Definition (DDL), Data Manipulation (DML), Data Control (DCL), and Transaction Control (TCL).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Ensures data integrity using constraints like PRIMARY KEY, FOREIGN KEY, UNIQUE, and NOT NULL.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Extensively used in banking, healthcare, e-commerce, analytics, and enterprise systems.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Remains foundational for data analytics, business intelligence, and backend development.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System </a:t>
            </a:r>
            <a:endParaRPr sz="3250"/>
          </a:p>
        </p:txBody>
      </p:sp>
      <p:sp>
        <p:nvSpPr>
          <p:cNvPr id="153" name="Google Shape;153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10"/>
          <p:cNvSpPr txBox="1"/>
          <p:nvPr>
            <p:ph idx="1" type="body"/>
          </p:nvPr>
        </p:nvSpPr>
        <p:spPr>
          <a:xfrm>
            <a:off x="927847" y="1106900"/>
            <a:ext cx="11264100" cy="48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Business Intelligence System: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Built on Classic Models database integrating products, customers, sales, employees, and offices.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Advanced SQL Framework: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Implements JOINs, Subqueries, CTEs, and Window Functions for deep analytics.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Inventory &amp; Product Analysis: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Monitors stock levels and evaluates product performance.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Customer &amp; Revenue Insights: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Calculates sales metrics, customer value, and identifies top/inactive clients.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Time-Series &amp; Growth Tracking: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Analyzes MoM sales trends and YoY customer growth.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b="1" lang="en-US" sz="2400">
                <a:latin typeface="Times New Roman"/>
                <a:ea typeface="Times New Roman"/>
                <a:cs typeface="Times New Roman"/>
                <a:sym typeface="Times New Roman"/>
              </a:rPr>
              <a:t>Workforce &amp; Office Benchmarking: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Ranks employees and offices based on performance and contribution.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"/>
          <p:cNvSpPr txBox="1"/>
          <p:nvPr>
            <p:ph type="title"/>
          </p:nvPr>
        </p:nvSpPr>
        <p:spPr>
          <a:xfrm>
            <a:off x="824401" y="365125"/>
            <a:ext cx="105156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3250"/>
          </a:p>
        </p:txBody>
      </p:sp>
      <p:sp>
        <p:nvSpPr>
          <p:cNvPr id="160" name="Google Shape;160;p11"/>
          <p:cNvSpPr txBox="1"/>
          <p:nvPr>
            <p:ph idx="1" type="body"/>
          </p:nvPr>
        </p:nvSpPr>
        <p:spPr>
          <a:xfrm>
            <a:off x="838200" y="1184367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rmAutofit/>
          </a:bodyPr>
          <a:lstStyle/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Organizations generate large volumes of relational business data across products, customers, employees, and sales.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Raw database records do not directly provide actionable insights.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Efficient data retrieval and analysis require structured SQL techniques.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There is a need to analyze inventory, sales performance, and customer behavior systematically.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Businesses require time-based insights such as MoM and YoY growth trends.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A comprehensive SQL-based system is needed to transform raw data into meaningful business intelligence.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2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Requirements</a:t>
            </a:r>
            <a:endParaRPr sz="3250"/>
          </a:p>
        </p:txBody>
      </p:sp>
      <p:sp>
        <p:nvSpPr>
          <p:cNvPr id="167" name="Google Shape;167;p12"/>
          <p:cNvSpPr txBox="1"/>
          <p:nvPr>
            <p:ph idx="1" type="body"/>
          </p:nvPr>
        </p:nvSpPr>
        <p:spPr>
          <a:xfrm>
            <a:off x="838200" y="1184367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14300" spcFirstLastPara="1" rIns="91425" wrap="square" tIns="45700">
            <a:normAutofit/>
          </a:bodyPr>
          <a:lstStyle/>
          <a:p>
            <a:pPr indent="-381000" lvl="0" marL="45720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MySQL Server.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MySQL Workbench.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1000" lvl="0" marL="45720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AutoNum type="arabicPeriod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ClassicModels Database.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5715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80"/>
              <a:buNone/>
            </a:pPr>
            <a:r>
              <a:t/>
            </a:r>
            <a:endParaRPr sz="43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8" name="Google Shape;16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3"/>
          <p:cNvSpPr txBox="1"/>
          <p:nvPr>
            <p:ph type="title"/>
          </p:nvPr>
        </p:nvSpPr>
        <p:spPr>
          <a:xfrm>
            <a:off x="838200" y="365125"/>
            <a:ext cx="10515600" cy="8192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5496"/>
              </a:buClr>
              <a:buSzPts val="3200"/>
              <a:buFont typeface="Times New Roman"/>
              <a:buNone/>
            </a:pPr>
            <a:r>
              <a:rPr b="1" lang="en-US" sz="3250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of Proposed System</a:t>
            </a:r>
            <a:endParaRPr sz="3250"/>
          </a:p>
        </p:txBody>
      </p:sp>
      <p:sp>
        <p:nvSpPr>
          <p:cNvPr id="174" name="Google Shape;174;p13"/>
          <p:cNvSpPr txBox="1"/>
          <p:nvPr>
            <p:ph idx="1" type="body"/>
          </p:nvPr>
        </p:nvSpPr>
        <p:spPr>
          <a:xfrm>
            <a:off x="838200" y="1184367"/>
            <a:ext cx="10515600" cy="405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90525" lvl="0" marL="457200" rtl="0" algn="just">
              <a:spcBef>
                <a:spcPts val="0"/>
              </a:spcBef>
              <a:spcAft>
                <a:spcPts val="0"/>
              </a:spcAft>
              <a:buSzPts val="2550"/>
              <a:buFont typeface="Times New Roman"/>
              <a:buAutoNum type="arabicPeriod"/>
            </a:pPr>
            <a:r>
              <a:rPr lang="en-US" sz="2550">
                <a:latin typeface="Times New Roman"/>
                <a:ea typeface="Times New Roman"/>
                <a:cs typeface="Times New Roman"/>
                <a:sym typeface="Times New Roman"/>
              </a:rPr>
              <a:t>Enables accurate and efficient business data analysis using structured SQL queries.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0525" lvl="0" marL="457200" rtl="0" algn="just">
              <a:spcBef>
                <a:spcPts val="0"/>
              </a:spcBef>
              <a:spcAft>
                <a:spcPts val="0"/>
              </a:spcAft>
              <a:buSzPts val="2550"/>
              <a:buFont typeface="Times New Roman"/>
              <a:buAutoNum type="arabicPeriod"/>
            </a:pPr>
            <a:r>
              <a:rPr lang="en-US" sz="2550">
                <a:latin typeface="Times New Roman"/>
                <a:ea typeface="Times New Roman"/>
                <a:cs typeface="Times New Roman"/>
                <a:sym typeface="Times New Roman"/>
              </a:rPr>
              <a:t>Provides real-time insights into sales, inventory, and customer performance.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0525" lvl="0" marL="457200" rtl="0" algn="just">
              <a:spcBef>
                <a:spcPts val="0"/>
              </a:spcBef>
              <a:spcAft>
                <a:spcPts val="0"/>
              </a:spcAft>
              <a:buSzPts val="2550"/>
              <a:buFont typeface="Times New Roman"/>
              <a:buAutoNum type="arabicPeriod"/>
            </a:pPr>
            <a:r>
              <a:rPr lang="en-US" sz="2550">
                <a:latin typeface="Times New Roman"/>
                <a:ea typeface="Times New Roman"/>
                <a:cs typeface="Times New Roman"/>
                <a:sym typeface="Times New Roman"/>
              </a:rPr>
              <a:t>Improves decision-making through data-driven metrics and trends.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0525" lvl="0" marL="457200" rtl="0" algn="just">
              <a:spcBef>
                <a:spcPts val="0"/>
              </a:spcBef>
              <a:spcAft>
                <a:spcPts val="0"/>
              </a:spcAft>
              <a:buSzPts val="2550"/>
              <a:buFont typeface="Times New Roman"/>
              <a:buAutoNum type="arabicPeriod"/>
            </a:pPr>
            <a:r>
              <a:rPr lang="en-US" sz="2550">
                <a:latin typeface="Times New Roman"/>
                <a:ea typeface="Times New Roman"/>
                <a:cs typeface="Times New Roman"/>
                <a:sym typeface="Times New Roman"/>
              </a:rPr>
              <a:t>Identifies top-performing products, customers, employees, and offices.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0525" lvl="0" marL="457200" rtl="0" algn="just">
              <a:spcBef>
                <a:spcPts val="0"/>
              </a:spcBef>
              <a:spcAft>
                <a:spcPts val="0"/>
              </a:spcAft>
              <a:buSzPts val="2550"/>
              <a:buFont typeface="Times New Roman"/>
              <a:buAutoNum type="arabicPeriod"/>
            </a:pPr>
            <a:r>
              <a:rPr lang="en-US" sz="2550">
                <a:latin typeface="Times New Roman"/>
                <a:ea typeface="Times New Roman"/>
                <a:cs typeface="Times New Roman"/>
                <a:sym typeface="Times New Roman"/>
              </a:rPr>
              <a:t>Detects inactive customers and inventory issues proactively.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0525" lvl="0" marL="457200" rtl="0" algn="just">
              <a:spcBef>
                <a:spcPts val="0"/>
              </a:spcBef>
              <a:spcAft>
                <a:spcPts val="0"/>
              </a:spcAft>
              <a:buSzPts val="2550"/>
              <a:buFont typeface="Times New Roman"/>
              <a:buAutoNum type="arabicPeriod"/>
            </a:pPr>
            <a:r>
              <a:rPr lang="en-US" sz="2550">
                <a:latin typeface="Times New Roman"/>
                <a:ea typeface="Times New Roman"/>
                <a:cs typeface="Times New Roman"/>
                <a:sym typeface="Times New Roman"/>
              </a:rPr>
              <a:t>Supports time-based analysis such as MoM and YoY growth tracking.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90525" lvl="0" marL="457200" rtl="0" algn="just">
              <a:spcBef>
                <a:spcPts val="0"/>
              </a:spcBef>
              <a:spcAft>
                <a:spcPts val="0"/>
              </a:spcAft>
              <a:buSzPts val="2550"/>
              <a:buFont typeface="Times New Roman"/>
              <a:buAutoNum type="arabicPeriod"/>
            </a:pPr>
            <a:r>
              <a:rPr lang="en-US" sz="2550">
                <a:latin typeface="Times New Roman"/>
                <a:ea typeface="Times New Roman"/>
                <a:cs typeface="Times New Roman"/>
                <a:sym typeface="Times New Roman"/>
              </a:rPr>
              <a:t>Enhances analytical skills by applying advanced SQL techniques like CTEs and Window Functions.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4135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5"/>
          <p:cNvSpPr txBox="1"/>
          <p:nvPr/>
        </p:nvSpPr>
        <p:spPr>
          <a:xfrm>
            <a:off x="769200" y="365125"/>
            <a:ext cx="105156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50"/>
              <a:buFont typeface="Arial"/>
              <a:buNone/>
            </a:pPr>
            <a:r>
              <a:rPr b="1" i="0" lang="en-US" sz="3250" u="none" cap="none" strike="noStrike">
                <a:solidFill>
                  <a:srgbClr val="2F549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Review Timeline:</a:t>
            </a:r>
            <a:endParaRPr b="0" i="0" sz="3250" u="none" cap="none" strike="noStrike">
              <a:solidFill>
                <a:srgbClr val="2F54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5"/>
          <p:cNvSpPr txBox="1"/>
          <p:nvPr/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2" name="Google Shape;182;p15"/>
          <p:cNvGrpSpPr/>
          <p:nvPr/>
        </p:nvGrpSpPr>
        <p:grpSpPr>
          <a:xfrm>
            <a:off x="1193055" y="1210500"/>
            <a:ext cx="9237706" cy="4573643"/>
            <a:chOff x="2063594" y="0"/>
            <a:chExt cx="6388455" cy="4058246"/>
          </a:xfrm>
        </p:grpSpPr>
        <p:sp>
          <p:nvSpPr>
            <p:cNvPr id="183" name="Google Shape;183;p15"/>
            <p:cNvSpPr/>
            <p:nvPr/>
          </p:nvSpPr>
          <p:spPr>
            <a:xfrm>
              <a:off x="7173684" y="811638"/>
              <a:ext cx="1278300" cy="3246600"/>
            </a:xfrm>
            <a:prstGeom prst="wedgeRectCallout">
              <a:avLst>
                <a:gd fmla="val 0" name="adj1"/>
                <a:gd fmla="val 0" name="adj2"/>
              </a:avLst>
            </a:prstGeom>
            <a:solidFill>
              <a:srgbClr val="BFC8E3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5"/>
            <p:cNvSpPr txBox="1"/>
            <p:nvPr/>
          </p:nvSpPr>
          <p:spPr>
            <a:xfrm>
              <a:off x="7336049" y="811646"/>
              <a:ext cx="1116000" cy="324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4450" lIns="44450" spcFirstLastPara="1" rIns="44450" wrap="square" tIns="444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Submission of report and final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Presentation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10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20/04/26</a:t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7173684" y="0"/>
              <a:ext cx="1278300" cy="811500"/>
            </a:xfrm>
            <a:prstGeom prst="rect">
              <a:avLst/>
            </a:prstGeom>
            <a:solidFill>
              <a:srgbClr val="ED7D31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5"/>
            <p:cNvSpPr txBox="1"/>
            <p:nvPr/>
          </p:nvSpPr>
          <p:spPr>
            <a:xfrm>
              <a:off x="7173684" y="0"/>
              <a:ext cx="1278300" cy="81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Final Review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5898557" y="811638"/>
              <a:ext cx="1278300" cy="3043500"/>
            </a:xfrm>
            <a:prstGeom prst="wedgeRectCallout">
              <a:avLst>
                <a:gd fmla="val 62500" name="adj1"/>
                <a:gd fmla="val 20830" name="adj2"/>
              </a:avLst>
            </a:prstGeom>
            <a:solidFill>
              <a:srgbClr val="C6EAE6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5"/>
            <p:cNvSpPr txBox="1"/>
            <p:nvPr/>
          </p:nvSpPr>
          <p:spPr>
            <a:xfrm>
              <a:off x="5978086" y="811638"/>
              <a:ext cx="1116000" cy="30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Progress on executing blueprint and workflow with the help of code base and documenting in hardcopy and version control system.</a:t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03/04/26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5898557" y="101454"/>
              <a:ext cx="1278300" cy="710100"/>
            </a:xfrm>
            <a:prstGeom prst="rect">
              <a:avLst/>
            </a:prstGeom>
            <a:solidFill>
              <a:srgbClr val="A5A5A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5"/>
            <p:cNvSpPr txBox="1"/>
            <p:nvPr/>
          </p:nvSpPr>
          <p:spPr>
            <a:xfrm>
              <a:off x="5898557" y="101454"/>
              <a:ext cx="1278300" cy="71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Review 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4620236" y="811638"/>
              <a:ext cx="1278300" cy="2840700"/>
            </a:xfrm>
            <a:prstGeom prst="wedgeRectCallout">
              <a:avLst>
                <a:gd fmla="val 62500" name="adj1"/>
                <a:gd fmla="val 20830" name="adj2"/>
              </a:avLst>
            </a:prstGeom>
            <a:solidFill>
              <a:srgbClr val="CFF1CF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5"/>
            <p:cNvSpPr txBox="1"/>
            <p:nvPr/>
          </p:nvSpPr>
          <p:spPr>
            <a:xfrm>
              <a:off x="4701364" y="811638"/>
              <a:ext cx="1116000" cy="284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Progress on executing blueprint and workflow with the help of code base.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28/02/26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4620236" y="206156"/>
              <a:ext cx="1278300" cy="608700"/>
            </a:xfrm>
            <a:prstGeom prst="rect">
              <a:avLst/>
            </a:prstGeom>
            <a:solidFill>
              <a:srgbClr val="FFC000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5"/>
            <p:cNvSpPr txBox="1"/>
            <p:nvPr/>
          </p:nvSpPr>
          <p:spPr>
            <a:xfrm>
              <a:off x="4620236" y="206156"/>
              <a:ext cx="1278300" cy="60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Review 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3341915" y="811638"/>
              <a:ext cx="1278300" cy="2637900"/>
            </a:xfrm>
            <a:prstGeom prst="wedgeRectCallout">
              <a:avLst>
                <a:gd fmla="val 62500" name="adj1"/>
                <a:gd fmla="val 20830" name="adj2"/>
              </a:avLst>
            </a:prstGeom>
            <a:solidFill>
              <a:srgbClr val="F4F6D9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5"/>
            <p:cNvSpPr txBox="1"/>
            <p:nvPr/>
          </p:nvSpPr>
          <p:spPr>
            <a:xfrm>
              <a:off x="3426211" y="811646"/>
              <a:ext cx="1194000" cy="263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Blueprint construction, architectural workflow with codebase.</a:t>
              </a:r>
              <a:endParaRPr b="0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31/01/26</a:t>
              </a:r>
              <a:endParaRPr b="1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3341915" y="304364"/>
              <a:ext cx="1278300" cy="507300"/>
            </a:xfrm>
            <a:prstGeom prst="rect">
              <a:avLst/>
            </a:prstGeom>
            <a:solidFill>
              <a:srgbClr val="599BD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5"/>
            <p:cNvSpPr txBox="1"/>
            <p:nvPr/>
          </p:nvSpPr>
          <p:spPr>
            <a:xfrm>
              <a:off x="3341915" y="304364"/>
              <a:ext cx="1278300" cy="50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Review 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2063594" y="811638"/>
              <a:ext cx="1278300" cy="2434800"/>
            </a:xfrm>
            <a:prstGeom prst="wedgeRectCallout">
              <a:avLst>
                <a:gd fmla="val 62500" name="adj1"/>
                <a:gd fmla="val 20830" name="adj2"/>
              </a:avLst>
            </a:prstGeom>
            <a:solidFill>
              <a:srgbClr val="FAEAE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5"/>
            <p:cNvSpPr txBox="1"/>
            <p:nvPr/>
          </p:nvSpPr>
          <p:spPr>
            <a:xfrm>
              <a:off x="2144722" y="811638"/>
              <a:ext cx="1116000" cy="243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Overview of the company and role and briefing the problem statement and workflow timeline.</a:t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t/>
              </a:r>
              <a:endParaRPr b="1" i="0" sz="16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0" lvl="0" marL="0" marR="0" rtl="0" algn="just">
                <a:lnSpc>
                  <a:spcPct val="90000"/>
                </a:lnSpc>
                <a:spcBef>
                  <a:spcPts val="56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Times New Roman"/>
                <a:buNone/>
              </a:pPr>
              <a:r>
                <a:rPr b="1" i="0" lang="en-US" sz="1600" u="none" cap="none" strike="noStrike">
                  <a:solidFill>
                    <a:srgbClr val="0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23/01/26</a:t>
              </a:r>
              <a:endParaRPr b="1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2063594" y="405819"/>
              <a:ext cx="1278300" cy="405900"/>
            </a:xfrm>
            <a:prstGeom prst="rect">
              <a:avLst/>
            </a:prstGeom>
            <a:solidFill>
              <a:srgbClr val="70AD47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5"/>
            <p:cNvSpPr txBox="1"/>
            <p:nvPr/>
          </p:nvSpPr>
          <p:spPr>
            <a:xfrm>
              <a:off x="2063594" y="405819"/>
              <a:ext cx="1278300" cy="40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0" lIns="63500" spcFirstLastPara="1" rIns="63500" wrap="square" tIns="635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Times New Roman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Review 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/>
          <p:nvPr>
            <p:ph type="title"/>
          </p:nvPr>
        </p:nvSpPr>
        <p:spPr>
          <a:xfrm>
            <a:off x="838200" y="365125"/>
            <a:ext cx="10515600" cy="59631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200"/>
              <a:buFont typeface="Times New Roman"/>
              <a:buNone/>
            </a:pPr>
            <a:r>
              <a:rPr b="1" lang="en-US" sz="320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Link</a:t>
            </a:r>
            <a:endParaRPr/>
          </a:p>
        </p:txBody>
      </p:sp>
      <p:sp>
        <p:nvSpPr>
          <p:cNvPr id="208" name="Google Shape;20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14"/>
          <p:cNvSpPr txBox="1"/>
          <p:nvPr>
            <p:ph idx="1" type="body"/>
          </p:nvPr>
        </p:nvSpPr>
        <p:spPr>
          <a:xfrm>
            <a:off x="446308" y="106129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https://github.com/Jilpha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 txBox="1"/>
          <p:nvPr>
            <p:ph idx="1" type="body"/>
          </p:nvPr>
        </p:nvSpPr>
        <p:spPr>
          <a:xfrm>
            <a:off x="838200" y="2547258"/>
            <a:ext cx="10515600" cy="1214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71180"/>
              </a:buClr>
              <a:buSzPts val="6600"/>
              <a:buNone/>
            </a:pPr>
            <a:r>
              <a:rPr lang="en-US" sz="6600">
                <a:solidFill>
                  <a:srgbClr val="A7118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!!</a:t>
            </a:r>
            <a:endParaRPr/>
          </a:p>
        </p:txBody>
      </p:sp>
      <p:sp>
        <p:nvSpPr>
          <p:cNvPr id="215" name="Google Shape;215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6"/>
          <p:cNvSpPr txBox="1"/>
          <p:nvPr>
            <p:ph idx="1" type="body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t/>
            </a:r>
            <a:endParaRPr sz="6600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6600"/>
              <a:buNone/>
            </a:pPr>
            <a:r>
              <a:rPr lang="en-US" sz="66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lang="en-US" sz="6600">
                <a:solidFill>
                  <a:srgbClr val="F7CAA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Q&amp;A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t/>
            </a:r>
            <a:endParaRPr sz="6600">
              <a:solidFill>
                <a:srgbClr val="A7118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bd04924_" id="222" name="Google Shape;22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2022-10-14T07:18:17Z</dcterms:created>
  <dc:creator>Gopalakrishnan N-Asst. Prof-CIV</dc:creator>
</cp:coreProperties>
</file>